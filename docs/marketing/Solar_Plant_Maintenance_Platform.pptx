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-62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roduction\Documents\Sof_projects\workspace\docs\marketing\assets\solar-plant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B1F33">
              <a:alpha val="90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26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21792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63093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OPERATIONS &amp; MAINTENANCE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234440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Plant Maintenance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Asset Management Platform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76656" y="2971800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maintenance visibility, equipment availability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D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operational control—across every plant.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76656" y="4114800"/>
            <a:ext cx="1536192" cy="749808"/>
          </a:xfrm>
          <a:prstGeom prst="roundRect">
            <a:avLst>
              <a:gd name="adj" fmla="val 1707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224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4439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assets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14016" y="4114800"/>
            <a:ext cx="1536192" cy="749808"/>
          </a:xfrm>
          <a:prstGeom prst="roundRect">
            <a:avLst>
              <a:gd name="adj" fmla="val 1707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60320" y="4224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44439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maintenance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51376" y="4114800"/>
            <a:ext cx="1536192" cy="749808"/>
          </a:xfrm>
          <a:prstGeom prst="roundRect">
            <a:avLst>
              <a:gd name="adj" fmla="val 1707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422452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44439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faster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76656" y="5961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6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customer-focused view of the current product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365269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8C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418588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2722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REALITY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becomes complex long before the plant looks complex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assets, many hand-offs and fragmented records make routine maintenance harder to control.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865376"/>
            <a:ext cx="3456432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65376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066544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202996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distributed assets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2514600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Inverters, transformers, panels, trackers and auxiliaries spread across the plant.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1865376"/>
            <a:ext cx="3456432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865376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8848" y="2066544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8848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65776" y="202996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work gets missed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535424" y="2514600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calendars and reminders create gaps in planned maintenance.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65008" y="1865376"/>
            <a:ext cx="3456432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5008" y="1865376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6176" y="2066544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66176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833104" y="202996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live in calls and chats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2514600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ownership, priority and progress become difficult to trace.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0352" y="3803904"/>
            <a:ext cx="3456432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380390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005072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298448" y="396849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lacks a clear timeline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768096" y="4453128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restoration, verification and root cause are often recorded separately.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97680" y="3803904"/>
            <a:ext cx="3456432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380390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98848" y="400507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98848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065776" y="396849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Spares are found too late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4535424" y="4453128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reservation, issue and consumption are not visible when work begins.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65008" y="3803904"/>
            <a:ext cx="3456432" cy="1627632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65008" y="380390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66176" y="4005072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66176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833104" y="396849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sees fragments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8302752" y="4453128"/>
            <a:ext cx="2980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paper, calls and messages delay a reliable plant-level view.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121408" y="5897880"/>
            <a:ext cx="7955280" cy="420624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331720" y="5952744"/>
            <a:ext cx="7516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not only downtime—it is slow decisions, weak accountability and lost maintenance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1636776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1490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maintenance operating system for the complete asset lifecycle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workflow turns plant events into controlled action and management visibility.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2039112"/>
            <a:ext cx="2350008" cy="1865376"/>
          </a:xfrm>
          <a:prstGeom prst="roundRect">
            <a:avLst>
              <a:gd name="adj" fmla="val 9804"/>
            </a:avLst>
          </a:prstGeom>
          <a:solidFill>
            <a:srgbClr val="123653"/>
          </a:solidFill>
          <a:ln w="12700">
            <a:solidFill>
              <a:srgbClr val="12365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2219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221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7706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3009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Inverters • transformers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• panels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2971800"/>
            <a:ext cx="457200" cy="0"/>
          </a:xfrm>
          <a:prstGeom prst="line">
            <a:avLst/>
          </a:prstGeom>
          <a:noFill/>
          <a:ln w="2794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38144" y="2039112"/>
            <a:ext cx="2350008" cy="1865376"/>
          </a:xfrm>
          <a:prstGeom prst="roundRect">
            <a:avLst>
              <a:gd name="adj" fmla="val 9804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39312" y="22219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9312" y="2221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39312" y="27706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3639312" y="33009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• work • spares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• vendors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33872" y="2971800"/>
            <a:ext cx="457200" cy="0"/>
          </a:xfrm>
          <a:prstGeom prst="line">
            <a:avLst/>
          </a:prstGeom>
          <a:noFill/>
          <a:ln w="2794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45936" y="2039112"/>
            <a:ext cx="2350008" cy="1865376"/>
          </a:xfrm>
          <a:prstGeom prst="roundRect">
            <a:avLst>
              <a:gd name="adj" fmla="val 9804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47104" y="22219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47104" y="2221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47104" y="27706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6547104" y="33009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• technicians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store teams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41664" y="2971800"/>
            <a:ext cx="457200" cy="0"/>
          </a:xfrm>
          <a:prstGeom prst="line">
            <a:avLst/>
          </a:prstGeom>
          <a:noFill/>
          <a:ln w="2794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253728" y="2039112"/>
            <a:ext cx="2350008" cy="1865376"/>
          </a:xfrm>
          <a:prstGeom prst="roundRect">
            <a:avLst>
              <a:gd name="adj" fmla="val 9804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54896" y="22219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54896" y="2221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454896" y="27706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9454896" y="33009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• reports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• cost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30352" y="4370832"/>
            <a:ext cx="11109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CONTROL LAYER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654296"/>
            <a:ext cx="1110996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30352" y="4864608"/>
            <a:ext cx="3456432" cy="530352"/>
          </a:xfrm>
          <a:prstGeom prst="roundRect">
            <a:avLst>
              <a:gd name="adj" fmla="val 2069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" y="5010912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4128" y="4910328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97680" y="4864608"/>
            <a:ext cx="3456432" cy="530352"/>
          </a:xfrm>
          <a:prstGeom prst="roundRect">
            <a:avLst>
              <a:gd name="adj" fmla="val 2069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43984" y="5010912"/>
            <a:ext cx="237744" cy="23774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91456" y="4910328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Site-based access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65008" y="4864608"/>
            <a:ext cx="3456432" cy="530352"/>
          </a:xfrm>
          <a:prstGeom prst="roundRect">
            <a:avLst>
              <a:gd name="adj" fmla="val 2069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11312" y="5010912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58784" y="4910328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approvals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30352" y="5541264"/>
            <a:ext cx="3456432" cy="530352"/>
          </a:xfrm>
          <a:prstGeom prst="roundRect">
            <a:avLst>
              <a:gd name="adj" fmla="val 2069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" y="5687568"/>
            <a:ext cx="237744" cy="23774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24128" y="558698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alerts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297680" y="5541264"/>
            <a:ext cx="3456432" cy="530352"/>
          </a:xfrm>
          <a:prstGeom prst="roundRect">
            <a:avLst>
              <a:gd name="adj" fmla="val 2069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43984" y="5687568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91456" y="558698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history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65008" y="5541264"/>
            <a:ext cx="3456432" cy="530352"/>
          </a:xfrm>
          <a:prstGeom prst="roundRect">
            <a:avLst>
              <a:gd name="adj" fmla="val 2069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11312" y="5687568"/>
            <a:ext cx="237744" cy="23774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558784" y="558698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FOUNDATION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complete, searchable equipment registry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structured operating record for every maintainable asset at every solar plant.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1783080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ASSET UNIVERSE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066544"/>
            <a:ext cx="676656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30352" y="2258568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423160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35000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modules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2258568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04288" y="2423160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04288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16352" y="235000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inverters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58768" y="2258568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68496" y="2423160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68496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235000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inverters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22976" y="2258568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32704" y="2423160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32704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44768" y="2350008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" y="3282696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" y="3374136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HT/LT &amp; switchgear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94560" y="3282696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04288" y="3447288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0428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816352" y="3374136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58768" y="3282696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68496" y="3447288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68496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480560" y="3374136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stations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22976" y="3282696"/>
            <a:ext cx="1444752" cy="786384"/>
          </a:xfrm>
          <a:prstGeom prst="roundRect">
            <a:avLst>
              <a:gd name="adj" fmla="val 16279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32704" y="3447288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32704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144768" y="3374136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&amp; auxiliaries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" y="4617720"/>
            <a:ext cx="2103120" cy="777240"/>
          </a:xfrm>
          <a:prstGeom prst="parallelogram">
            <a:avLst/>
          </a:prstGeom>
          <a:solidFill>
            <a:srgbClr val="123653"/>
          </a:solidFill>
          <a:ln w="10160">
            <a:solidFill>
              <a:srgbClr val="6FA0B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57300" y="4663440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783080" y="4663440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308860" y="4663440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822960" y="5006340"/>
            <a:ext cx="1920240" cy="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2971800" y="4407408"/>
            <a:ext cx="2103120" cy="777240"/>
          </a:xfrm>
          <a:prstGeom prst="parallelogram">
            <a:avLst/>
          </a:prstGeom>
          <a:solidFill>
            <a:srgbClr val="123653"/>
          </a:solidFill>
          <a:ln w="10160">
            <a:solidFill>
              <a:srgbClr val="6FA0B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97580" y="4453128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4023360" y="4453128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4549140" y="4453128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3063240" y="4796028"/>
            <a:ext cx="1920240" cy="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5212080" y="4617720"/>
            <a:ext cx="2103120" cy="777240"/>
          </a:xfrm>
          <a:prstGeom prst="parallelogram">
            <a:avLst/>
          </a:prstGeom>
          <a:solidFill>
            <a:srgbClr val="123653"/>
          </a:solidFill>
          <a:ln w="10160">
            <a:solidFill>
              <a:srgbClr val="6FA0B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37860" y="4663440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6263640" y="4663440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6789420" y="4663440"/>
            <a:ext cx="0" cy="68580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5303520" y="5006340"/>
            <a:ext cx="1920240" cy="0"/>
          </a:xfrm>
          <a:prstGeom prst="line">
            <a:avLst/>
          </a:prstGeom>
          <a:noFill/>
          <a:ln w="6350">
            <a:solidFill>
              <a:srgbClr val="6FA0BD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1783080" y="5394960"/>
            <a:ext cx="0" cy="365760"/>
          </a:xfrm>
          <a:prstGeom prst="line">
            <a:avLst/>
          </a:prstGeom>
          <a:noFill/>
          <a:ln w="17780">
            <a:solidFill>
              <a:srgbClr val="92A0AD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4023360" y="5184648"/>
            <a:ext cx="0" cy="576072"/>
          </a:xfrm>
          <a:prstGeom prst="line">
            <a:avLst/>
          </a:prstGeom>
          <a:noFill/>
          <a:ln w="17780">
            <a:solidFill>
              <a:srgbClr val="92A0AD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6263640" y="5394960"/>
            <a:ext cx="0" cy="365760"/>
          </a:xfrm>
          <a:prstGeom prst="line">
            <a:avLst/>
          </a:prstGeom>
          <a:noFill/>
          <a:ln w="17780">
            <a:solidFill>
              <a:srgbClr val="92A0AD"/>
            </a:solidFill>
            <a:prstDash val="solid"/>
            <a:headEnd type="none"/>
            <a:tailEnd type="none"/>
          </a:ln>
        </p:spPr>
      </p:sp>
      <p:sp>
        <p:nvSpPr>
          <p:cNvPr id="66" name="Text 64"/>
          <p:cNvSpPr txBox="1"/>
          <p:nvPr/>
        </p:nvSpPr>
        <p:spPr>
          <a:xfrm>
            <a:off x="7644384" y="1783080"/>
            <a:ext cx="3995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ASSET RECORD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44384" y="2066544"/>
            <a:ext cx="3995928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7644384" y="2185416"/>
            <a:ext cx="3995928" cy="3401568"/>
          </a:xfrm>
          <a:prstGeom prst="roundRect">
            <a:avLst>
              <a:gd name="adj" fmla="val 5376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55280" y="2478024"/>
            <a:ext cx="2423160" cy="29260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028432" y="2487168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INV-01  •  CENTRAL INVERTER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7973568" y="2990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8851392" y="299008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• type • serial • location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7973568" y="3474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8851392" y="34747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 • warranty • status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7973568" y="3959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8851392" y="395935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• vendor • criticality • owner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7973568" y="4443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8851392" y="444398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• maintenance • TCO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7973568" y="49286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8851392" y="492861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• spare BOM • AMC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7955280" y="5184648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028432" y="5193792"/>
            <a:ext cx="31912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• SITE-SCOPED • AUDITABLE</a:t>
            </a:r>
            <a:endParaRPr lang="en-US" sz="1050" dirty="0"/>
          </a:p>
        </p:txBody>
      </p:sp>
      <p:sp>
        <p:nvSpPr>
          <p:cNvPr id="83" name="Text 81"/>
          <p:cNvSpPr txBox="1"/>
          <p:nvPr/>
        </p:nvSpPr>
        <p:spPr>
          <a:xfrm>
            <a:off x="7699248" y="57972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faster identification, consistent records and a reliable base for every maintenance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244852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0985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FAILURE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preventive maintenance into a repeatable operating rhythm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Schedules, reminders, work orders and checklists keep planned activity visible from due date to completion.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2148840"/>
            <a:ext cx="694944" cy="6949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926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" y="322783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496312"/>
            <a:ext cx="685800" cy="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44368" y="2148840"/>
            <a:ext cx="694944" cy="6949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44368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926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schedule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496312" y="322783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75888" y="2496312"/>
            <a:ext cx="685800" cy="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82896" y="2148840"/>
            <a:ext cx="694944" cy="694944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82896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498848" y="2926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reminder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322783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/ email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14416" y="2496312"/>
            <a:ext cx="685800" cy="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21424" y="2148840"/>
            <a:ext cx="694944" cy="6949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21424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37376" y="2926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73368" y="322783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52944" y="2496312"/>
            <a:ext cx="685800" cy="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59952" y="2148840"/>
            <a:ext cx="694944" cy="6949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59952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375904" y="2926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311896" y="322783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• number • photo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491472" y="2496312"/>
            <a:ext cx="685800" cy="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698480" y="2148840"/>
            <a:ext cx="694944" cy="6949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698480" y="21488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0314432" y="29260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250424" y="322783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" y="3977640"/>
            <a:ext cx="11109960" cy="914400"/>
          </a:xfrm>
          <a:prstGeom prst="roundRect">
            <a:avLst>
              <a:gd name="adj" fmla="val 18000"/>
            </a:avLst>
          </a:prstGeom>
          <a:solidFill>
            <a:srgbClr val="F5F8FA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" y="4187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82880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2999232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325112" y="41879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40880" y="4142232"/>
            <a:ext cx="0" cy="402336"/>
          </a:xfrm>
          <a:prstGeom prst="line">
            <a:avLst/>
          </a:prstGeom>
          <a:noFill/>
          <a:ln w="1397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 txBox="1"/>
          <p:nvPr/>
        </p:nvSpPr>
        <p:spPr>
          <a:xfrm>
            <a:off x="7315200" y="409651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 • upcoming work • completion % • generated vs completed work orders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30352" y="5202936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" y="5202936"/>
            <a:ext cx="73152" cy="1024128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" y="5404104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1520" y="5404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298448" y="536752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missed maintenance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4297680" y="5202936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97680" y="5202936"/>
            <a:ext cx="73152" cy="1024128"/>
          </a:xfrm>
          <a:prstGeom prst="roundRect">
            <a:avLst>
              <a:gd name="adj" fmla="val 50000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98848" y="5404104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498848" y="5404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065776" y="536752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equipment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8065008" y="5202936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65008" y="5202936"/>
            <a:ext cx="73152" cy="102412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66176" y="5404104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66176" y="5404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8833104" y="536752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Checklist-backed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WITH CONTROL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calls and chat threads with a formal breakdown workflow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gets an asset, site, priority, owner, target date and auditable status.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847088"/>
            <a:ext cx="2011680" cy="4069080"/>
          </a:xfrm>
          <a:prstGeom prst="roundRect">
            <a:avLst>
              <a:gd name="adj" fmla="val 9091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139696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2148840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EVENT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4015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inverter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536192" y="4224528"/>
            <a:ext cx="0" cy="640080"/>
          </a:xfrm>
          <a:prstGeom prst="line">
            <a:avLst/>
          </a:prstGeom>
          <a:noFill/>
          <a:ln w="25400">
            <a:solidFill>
              <a:srgbClr val="F5B335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49808" y="4992624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maintenance request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07792" y="1901952"/>
            <a:ext cx="2514600" cy="1170432"/>
          </a:xfrm>
          <a:prstGeom prst="roundRect">
            <a:avLst>
              <a:gd name="adj" fmla="val 1250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72384" y="2157984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72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20848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42316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• priority • description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9824" y="2468880"/>
            <a:ext cx="310896" cy="0"/>
          </a:xfrm>
          <a:prstGeom prst="line">
            <a:avLst/>
          </a:prstGeom>
          <a:noFill/>
          <a:ln w="2159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15584" y="1901952"/>
            <a:ext cx="2514600" cy="1170432"/>
          </a:xfrm>
          <a:prstGeom prst="roundRect">
            <a:avLst>
              <a:gd name="adj" fmla="val 1250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0176" y="2157984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01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65392" y="20848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242316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or vendor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57616" y="2468880"/>
            <a:ext cx="310896" cy="0"/>
          </a:xfrm>
          <a:prstGeom prst="line">
            <a:avLst/>
          </a:prstGeom>
          <a:noFill/>
          <a:ln w="2159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723376" y="1901952"/>
            <a:ext cx="2514600" cy="1170432"/>
          </a:xfrm>
          <a:prstGeom prst="roundRect">
            <a:avLst>
              <a:gd name="adj" fmla="val 1250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7968" y="2157984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87968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473184" y="20848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473184" y="242316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is clear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957816" y="3081528"/>
            <a:ext cx="0" cy="338328"/>
          </a:xfrm>
          <a:prstGeom prst="line">
            <a:avLst/>
          </a:prstGeom>
          <a:noFill/>
          <a:ln w="2159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07792" y="3474720"/>
            <a:ext cx="2514600" cy="1170432"/>
          </a:xfrm>
          <a:prstGeom prst="roundRect">
            <a:avLst>
              <a:gd name="adj" fmla="val 1250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72384" y="3730752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072384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3657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399592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resume if needed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49824" y="4041648"/>
            <a:ext cx="310896" cy="0"/>
          </a:xfrm>
          <a:prstGeom prst="line">
            <a:avLst/>
          </a:prstGeom>
          <a:noFill/>
          <a:ln w="2159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815584" y="3474720"/>
            <a:ext cx="2514600" cy="1170432"/>
          </a:xfrm>
          <a:prstGeom prst="roundRect">
            <a:avLst>
              <a:gd name="adj" fmla="val 1250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0176" y="3730752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80176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565392" y="3657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565392" y="399592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and evidence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57616" y="4041648"/>
            <a:ext cx="310896" cy="0"/>
          </a:xfrm>
          <a:prstGeom prst="line">
            <a:avLst/>
          </a:prstGeom>
          <a:noFill/>
          <a:ln w="2159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723376" y="3474720"/>
            <a:ext cx="2514600" cy="1170432"/>
          </a:xfrm>
          <a:prstGeom prst="roundRect">
            <a:avLst>
              <a:gd name="adj" fmla="val 1250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87968" y="3730752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87968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9473184" y="36576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9473184" y="399592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approval gate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907792" y="5157216"/>
            <a:ext cx="8732520" cy="758952"/>
          </a:xfrm>
          <a:prstGeom prst="roundRect">
            <a:avLst>
              <a:gd name="adj" fmla="val 19277"/>
            </a:avLst>
          </a:prstGeom>
          <a:solidFill>
            <a:srgbClr val="FFF4D8"/>
          </a:solidFill>
          <a:ln w="12700">
            <a:solidFill>
              <a:srgbClr val="F5B33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82112" y="53400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3877056" y="52486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queue for open, assigned, in-progress, on-hold, completed and closed work—with approval history where configured.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ACCOUNTABILITY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assignment clear—and every intervention traceable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and external vendors work from a defined job, plan, checklist and evidence trail.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1783080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RESPONSIBILITY TO PROOF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066544"/>
            <a:ext cx="731520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30352" y="2194560"/>
            <a:ext cx="1225296" cy="1417320"/>
          </a:xfrm>
          <a:prstGeom prst="roundRect">
            <a:avLst>
              <a:gd name="adj" fmla="val 1194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404872"/>
            <a:ext cx="493776" cy="493776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2404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• request • owner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764792" y="2889504"/>
            <a:ext cx="201168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84248" y="2194560"/>
            <a:ext cx="1225296" cy="1417320"/>
          </a:xfrm>
          <a:prstGeom prst="roundRect">
            <a:avLst>
              <a:gd name="adj" fmla="val 1194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0008" y="2404872"/>
            <a:ext cx="493776" cy="493776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50008" y="2404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093976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093976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start / end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218688" y="2889504"/>
            <a:ext cx="201168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438144" y="2194560"/>
            <a:ext cx="1225296" cy="1417320"/>
          </a:xfrm>
          <a:prstGeom prst="roundRect">
            <a:avLst>
              <a:gd name="adj" fmla="val 1194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03904" y="2404872"/>
            <a:ext cx="493776" cy="493776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03904" y="2404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547872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responses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672584" y="2889504"/>
            <a:ext cx="201168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92040" y="2194560"/>
            <a:ext cx="1225296" cy="1417320"/>
          </a:xfrm>
          <a:prstGeom prst="roundRect">
            <a:avLst>
              <a:gd name="adj" fmla="val 1194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2404872"/>
            <a:ext cx="493776" cy="493776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57800" y="2404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001768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log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001768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 • notes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126480" y="2889504"/>
            <a:ext cx="201168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345936" y="2194560"/>
            <a:ext cx="1225296" cy="1417320"/>
          </a:xfrm>
          <a:prstGeom prst="roundRect">
            <a:avLst>
              <a:gd name="adj" fmla="val 1194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11696" y="2404872"/>
            <a:ext cx="493776" cy="493776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11696" y="2404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455664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455664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proof • files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8183880" y="1810512"/>
            <a:ext cx="3456432" cy="4087368"/>
          </a:xfrm>
          <a:prstGeom prst="roundRect">
            <a:avLst>
              <a:gd name="adj" fmla="val 5291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2103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77072" y="211226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485632" y="2670048"/>
            <a:ext cx="228600" cy="228600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823960" y="2606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9537192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responsibility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8485632" y="3108960"/>
            <a:ext cx="228600" cy="228600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823960" y="3044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9537192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start and end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8485632" y="3547872"/>
            <a:ext cx="228600" cy="228600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823960" y="348386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537192" y="3483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identified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8485632" y="3986784"/>
            <a:ext cx="228600" cy="228600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823960" y="392277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9537192" y="3922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performed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8485632" y="4425696"/>
            <a:ext cx="228600" cy="228600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823960" y="43616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537192" y="4361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status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8485632" y="4864608"/>
            <a:ext cx="228600" cy="228600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823960" y="48006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9537192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attachments</a:t>
            </a:r>
            <a:endParaRPr lang="en-US" sz="1020" dirty="0"/>
          </a:p>
        </p:txBody>
      </p:sp>
      <p:sp>
        <p:nvSpPr>
          <p:cNvPr id="66" name="Text 64"/>
          <p:cNvSpPr txBox="1"/>
          <p:nvPr/>
        </p:nvSpPr>
        <p:spPr>
          <a:xfrm>
            <a:off x="8476488" y="5440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without ambiguity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30352" y="4096512"/>
            <a:ext cx="2212848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0352" y="4096512"/>
            <a:ext cx="73152" cy="1417320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8096" y="42611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768096" y="4745736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is responsible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971800" y="4096512"/>
            <a:ext cx="2212848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4096512"/>
            <a:ext cx="73152" cy="1417320"/>
          </a:xfrm>
          <a:prstGeom prst="roundRect">
            <a:avLst>
              <a:gd name="adj" fmla="val 50000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209544" y="42611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DURATION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3209544" y="4745736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plan vs actual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413248" y="4096512"/>
            <a:ext cx="2212848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13248" y="4096512"/>
            <a:ext cx="73152" cy="1417320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650992" y="42611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78" name="Text 76"/>
          <p:cNvSpPr txBox="1"/>
          <p:nvPr/>
        </p:nvSpPr>
        <p:spPr>
          <a:xfrm>
            <a:off x="5650992" y="4745736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intervention evidence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244852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0985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RESTORATION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downtime event a start, a story and a verified end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records duration, status history, cause and corrective actions—without claiming SCADA or generation telemetry.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1783080"/>
            <a:ext cx="11109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LIFECYCLE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066544"/>
            <a:ext cx="1110996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05840" y="2862072"/>
            <a:ext cx="10104120" cy="0"/>
          </a:xfrm>
          <a:prstGeom prst="line">
            <a:avLst/>
          </a:prstGeom>
          <a:noFill/>
          <a:ln w="5080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78992" y="2468880"/>
            <a:ext cx="786384" cy="786384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8992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340156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3675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recorded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2980944" y="2468880"/>
            <a:ext cx="786384" cy="786384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80944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660904" y="340156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69464" y="3675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confirmed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882896" y="2468880"/>
            <a:ext cx="786384" cy="786384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82896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62856" y="340156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471416" y="3675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maintenance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784848" y="2468880"/>
            <a:ext cx="786384" cy="786384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84848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64808" y="340156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73368" y="3675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restored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686800" y="2468880"/>
            <a:ext cx="786384" cy="78638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0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340156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3675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verified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10588752" y="2468880"/>
            <a:ext cx="786384" cy="78638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88752" y="24688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0268712" y="340156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177272" y="3675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closed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30352" y="4251960"/>
            <a:ext cx="7114032" cy="1463040"/>
          </a:xfrm>
          <a:prstGeom prst="roundRect">
            <a:avLst>
              <a:gd name="adj" fmla="val 11250"/>
            </a:avLst>
          </a:prstGeom>
          <a:solidFill>
            <a:srgbClr val="F5F8FA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6384" y="4453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captures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86384" y="4846320"/>
            <a:ext cx="19933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2688" y="4992624"/>
            <a:ext cx="237744" cy="237744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280160" y="48920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 / duration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62656" y="4846320"/>
            <a:ext cx="19933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08960" y="4992624"/>
            <a:ext cx="237744" cy="237744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456432" y="48920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unplanned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138928" y="4846320"/>
            <a:ext cx="19933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85232" y="4992624"/>
            <a:ext cx="237744" cy="237744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32704" y="48920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category &amp; code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86384" y="5285232"/>
            <a:ext cx="19933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2688" y="5431536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280160" y="53309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 remarks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962656" y="5285232"/>
            <a:ext cx="19933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8960" y="5431536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456432" y="53309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maintenance request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138928" y="5285232"/>
            <a:ext cx="19933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85232" y="5431536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632704" y="53309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reopen history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955280" y="4251960"/>
            <a:ext cx="3685032" cy="1463040"/>
          </a:xfrm>
          <a:prstGeom prst="roundRect">
            <a:avLst>
              <a:gd name="adj" fmla="val 11250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22960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 identify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8412480" y="48188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Repeated failures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High-downtime assets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Restoration bottlenecks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RCA actions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93024" y="5815584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12700">
            <a:solidFill>
              <a:srgbClr val="F5B33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266176" y="5824728"/>
            <a:ext cx="3099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GENERATION-LOSS CLAIM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592324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446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MAINTENANCE MOVING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spare availability to the work that needs it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stock, approvals, reservation, issue, consumption and reorder history reduce the “part not available” surprise.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929384"/>
            <a:ext cx="1545336" cy="658368"/>
          </a:xfrm>
          <a:prstGeom prst="roundRect">
            <a:avLst>
              <a:gd name="adj" fmla="val 19444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20939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2258568"/>
            <a:ext cx="256032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95728" y="1929384"/>
            <a:ext cx="1545336" cy="658368"/>
          </a:xfrm>
          <a:prstGeom prst="roundRect">
            <a:avLst>
              <a:gd name="adj" fmla="val 19444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20939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68496" y="2258568"/>
            <a:ext cx="256032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61104" y="1929384"/>
            <a:ext cx="1545336" cy="658368"/>
          </a:xfrm>
          <a:prstGeom prst="roundRect">
            <a:avLst>
              <a:gd name="adj" fmla="val 19444"/>
            </a:avLst>
          </a:prstGeom>
          <a:solidFill>
            <a:srgbClr val="123653"/>
          </a:solidFill>
          <a:ln w="12700">
            <a:solidFill>
              <a:srgbClr val="123653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34256" y="20939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33872" y="2258568"/>
            <a:ext cx="256032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26480" y="1929384"/>
            <a:ext cx="1545336" cy="658368"/>
          </a:xfrm>
          <a:prstGeom prst="roundRect">
            <a:avLst>
              <a:gd name="adj" fmla="val 19444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9632" y="20939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99248" y="2258568"/>
            <a:ext cx="256032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91856" y="1929384"/>
            <a:ext cx="1545336" cy="658368"/>
          </a:xfrm>
          <a:prstGeom prst="roundRect">
            <a:avLst>
              <a:gd name="adj" fmla="val 19444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65008" y="20939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64624" y="2258568"/>
            <a:ext cx="256032" cy="0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57232" y="1929384"/>
            <a:ext cx="1545336" cy="658368"/>
          </a:xfrm>
          <a:prstGeom prst="roundRect">
            <a:avLst>
              <a:gd name="adj" fmla="val 19444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30384" y="20939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/ RETURN</a:t>
            </a:r>
            <a:endParaRPr lang="en-US" sz="920" dirty="0"/>
          </a:p>
        </p:txBody>
      </p:sp>
      <p:sp>
        <p:nvSpPr>
          <p:cNvPr id="31" name="Text 29"/>
          <p:cNvSpPr txBox="1"/>
          <p:nvPr/>
        </p:nvSpPr>
        <p:spPr>
          <a:xfrm>
            <a:off x="530352" y="2971800"/>
            <a:ext cx="5166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SITE STOCK SNAPSHOT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" y="3255264"/>
            <a:ext cx="516636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530352" y="3419856"/>
            <a:ext cx="23317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3575304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225296" y="3502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225296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PCS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118104" y="3419856"/>
            <a:ext cx="23317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46120" y="3575304"/>
            <a:ext cx="438912" cy="438912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46120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813048" y="3502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813048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PCS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0352" y="4389120"/>
            <a:ext cx="23317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" y="4544568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8368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225296" y="4471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FAN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225296" y="4745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PCS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118104" y="4389120"/>
            <a:ext cx="23317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46120" y="4544568"/>
            <a:ext cx="438912" cy="438912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46120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3813048" y="4471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CONNECTOR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813048" y="4745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PCS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062472" y="2971800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 ALREADY CONNECTED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62472" y="3255264"/>
            <a:ext cx="557784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6062472" y="3401568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62472" y="3401568"/>
            <a:ext cx="73152" cy="594360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81928" y="3465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stock</a:t>
            </a:r>
            <a:endParaRPr lang="en-US" sz="1060" dirty="0"/>
          </a:p>
        </p:txBody>
      </p:sp>
      <p:sp>
        <p:nvSpPr>
          <p:cNvPr id="58" name="Text 56"/>
          <p:cNvSpPr txBox="1"/>
          <p:nvPr/>
        </p:nvSpPr>
        <p:spPr>
          <a:xfrm>
            <a:off x="6281928" y="36941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• reserved • available • minimum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8933688" y="3401568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33688" y="3401568"/>
            <a:ext cx="73152" cy="594360"/>
          </a:xfrm>
          <a:prstGeom prst="roundRect">
            <a:avLst>
              <a:gd name="adj" fmla="val 50000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153144" y="3465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history</a:t>
            </a:r>
            <a:endParaRPr lang="en-US" sz="1060" dirty="0"/>
          </a:p>
        </p:txBody>
      </p:sp>
      <p:sp>
        <p:nvSpPr>
          <p:cNvPr id="62" name="Text 60"/>
          <p:cNvSpPr txBox="1"/>
          <p:nvPr/>
        </p:nvSpPr>
        <p:spPr>
          <a:xfrm>
            <a:off x="9153144" y="36941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Stock-in • adjust • transfer • issue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6062472" y="4123944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62472" y="4123944"/>
            <a:ext cx="73152" cy="594360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281928" y="4187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</a:t>
            </a:r>
            <a:endParaRPr lang="en-US" sz="1060" dirty="0"/>
          </a:p>
        </p:txBody>
      </p:sp>
      <p:sp>
        <p:nvSpPr>
          <p:cNvPr id="66" name="Text 64"/>
          <p:cNvSpPr txBox="1"/>
          <p:nvPr/>
        </p:nvSpPr>
        <p:spPr>
          <a:xfrm>
            <a:off x="6281928" y="4416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 • reorder • receive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8933688" y="4123944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33688" y="4123944"/>
            <a:ext cx="73152" cy="594360"/>
          </a:xfrm>
          <a:prstGeom prst="roundRect">
            <a:avLst>
              <a:gd name="adj" fmla="val 50000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53144" y="4187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context</a:t>
            </a:r>
            <a:endParaRPr lang="en-US" sz="1060" dirty="0"/>
          </a:p>
        </p:txBody>
      </p:sp>
      <p:sp>
        <p:nvSpPr>
          <p:cNvPr id="70" name="Text 68"/>
          <p:cNvSpPr txBox="1"/>
          <p:nvPr/>
        </p:nvSpPr>
        <p:spPr>
          <a:xfrm>
            <a:off x="9153144" y="4416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• request • equipment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6062472" y="4846320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62472" y="4846320"/>
            <a:ext cx="73152" cy="594360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281928" y="4910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BOM</a:t>
            </a:r>
            <a:endParaRPr lang="en-US" sz="1060" dirty="0"/>
          </a:p>
        </p:txBody>
      </p:sp>
      <p:sp>
        <p:nvSpPr>
          <p:cNvPr id="74" name="Text 72"/>
          <p:cNvSpPr txBox="1"/>
          <p:nvPr/>
        </p:nvSpPr>
        <p:spPr>
          <a:xfrm>
            <a:off x="6281928" y="5138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quantity by asset</a:t>
            </a:r>
            <a:endParaRPr lang="en-US" sz="840" dirty="0"/>
          </a:p>
        </p:txBody>
      </p:sp>
      <p:sp>
        <p:nvSpPr>
          <p:cNvPr id="75" name="Shape 73"/>
          <p:cNvSpPr/>
          <p:nvPr/>
        </p:nvSpPr>
        <p:spPr>
          <a:xfrm>
            <a:off x="8933688" y="4846320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33688" y="4846320"/>
            <a:ext cx="73152" cy="594360"/>
          </a:xfrm>
          <a:prstGeom prst="roundRect">
            <a:avLst>
              <a:gd name="adj" fmla="val 50000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153144" y="4910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traceability</a:t>
            </a:r>
            <a:endParaRPr lang="en-US" sz="1060" dirty="0"/>
          </a:p>
        </p:txBody>
      </p:sp>
      <p:sp>
        <p:nvSpPr>
          <p:cNvPr id="78" name="Text 76"/>
          <p:cNvSpPr txBox="1"/>
          <p:nvPr/>
        </p:nvSpPr>
        <p:spPr>
          <a:xfrm>
            <a:off x="9153144" y="5138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• material consumption</a:t>
            </a:r>
            <a:endParaRPr lang="en-US" sz="840" dirty="0"/>
          </a:p>
        </p:txBody>
      </p:sp>
      <p:sp>
        <p:nvSpPr>
          <p:cNvPr id="79" name="Shape 77"/>
          <p:cNvSpPr/>
          <p:nvPr/>
        </p:nvSpPr>
        <p:spPr>
          <a:xfrm>
            <a:off x="530352" y="5669280"/>
            <a:ext cx="11109960" cy="493776"/>
          </a:xfrm>
          <a:prstGeom prst="roundRect">
            <a:avLst>
              <a:gd name="adj" fmla="val 33333"/>
            </a:avLst>
          </a:prstGeom>
          <a:solidFill>
            <a:srgbClr val="E7F7F0"/>
          </a:solidFill>
          <a:ln w="12700">
            <a:solidFill>
              <a:srgbClr val="149B68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77240" y="5760720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fewer maintenance delays, better stock discipline and a complete record of what was used—where and why.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939796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7934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EXTERNAL SUPPORT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vendors and AMC coverage as part of maintenance—not beside it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service contacts, plant associations, equipment coverage, contract terms and renewal history.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856232"/>
            <a:ext cx="3154680" cy="4069080"/>
          </a:xfrm>
          <a:prstGeom prst="roundRect">
            <a:avLst>
              <a:gd name="adj" fmla="val 5797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17627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185416"/>
            <a:ext cx="1453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PARTNER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770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master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9536" y="3364992"/>
            <a:ext cx="201168" cy="201168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07008" y="33009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person &amp; communication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" y="3803904"/>
            <a:ext cx="201168" cy="201168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07008" y="37398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category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9536" y="4242816"/>
            <a:ext cx="201168" cy="201168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07008" y="41788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plants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9536" y="4681728"/>
            <a:ext cx="201168" cy="201168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07008" y="4617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AMC contracts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9536" y="5120640"/>
            <a:ext cx="201168" cy="201168"/>
          </a:xfrm>
          <a:prstGeom prst="ellipse">
            <a:avLst/>
          </a:prstGeom>
          <a:solidFill>
            <a:srgbClr val="39B77A"/>
          </a:solidFill>
          <a:ln w="12700">
            <a:solidFill>
              <a:srgbClr val="39B77A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07008" y="50566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assignments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486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the partner relationship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94176" y="3858768"/>
            <a:ext cx="566928" cy="0"/>
          </a:xfrm>
          <a:prstGeom prst="line">
            <a:avLst/>
          </a:prstGeom>
          <a:noFill/>
          <a:ln w="2794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97680" y="1856232"/>
            <a:ext cx="3685032" cy="4069080"/>
          </a:xfrm>
          <a:prstGeom prst="roundRect">
            <a:avLst>
              <a:gd name="adj" fmla="val 4963"/>
            </a:avLst>
          </a:prstGeom>
          <a:solidFill>
            <a:srgbClr val="E7F7F0"/>
          </a:solidFill>
          <a:ln w="12700">
            <a:solidFill>
              <a:srgbClr val="149B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8576" y="21762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81728" y="2185416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CONTRACT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99432" y="2688336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that follows the asset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99432" y="3163824"/>
            <a:ext cx="304495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45736" y="3310128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93208" y="3209544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 Start / end / status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99432" y="3584448"/>
            <a:ext cx="304495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45736" y="3730752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93208" y="363016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 Response &amp; resolution hours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99432" y="4005072"/>
            <a:ext cx="304495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45736" y="4151376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93208" y="4050792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 Labour • spares • scope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99432" y="4425696"/>
            <a:ext cx="304495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45736" y="4572000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93208" y="4471416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 Equipment covered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99432" y="4846320"/>
            <a:ext cx="304495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45736" y="4992624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93208" y="4892040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 Linked PM schedules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99432" y="5266944"/>
            <a:ext cx="304495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45736" y="5413248"/>
            <a:ext cx="237744" cy="237744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93208" y="5312664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 Renewal chain preserves history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01000" y="3858768"/>
            <a:ext cx="566928" cy="0"/>
          </a:xfrm>
          <a:prstGeom prst="line">
            <a:avLst/>
          </a:prstGeom>
          <a:noFill/>
          <a:ln w="2794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613648" y="1856232"/>
            <a:ext cx="3026664" cy="4069080"/>
          </a:xfrm>
          <a:prstGeom prst="roundRect">
            <a:avLst>
              <a:gd name="adj" fmla="val 6042"/>
            </a:avLst>
          </a:prstGeom>
          <a:solidFill>
            <a:srgbClr val="EAF4F8"/>
          </a:solidFill>
          <a:ln w="12700">
            <a:solidFill>
              <a:srgbClr val="2E7BB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24544" y="217627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997696" y="2185416"/>
            <a:ext cx="1179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915400" y="27157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ahead of coverage risk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887968" y="3401568"/>
            <a:ext cx="274320" cy="27432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887968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9308592" y="33375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expiring / expired contracts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8887968" y="3840480"/>
            <a:ext cx="274320" cy="27432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887968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9308592" y="37764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value and covered equipment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8887968" y="4279392"/>
            <a:ext cx="274320" cy="27432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887968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9308592" y="42153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PM under AMC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8887968" y="4718304"/>
            <a:ext cx="274320" cy="27432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887968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9308592" y="4654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visibility</a:t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8887968" y="5157216"/>
            <a:ext cx="274320" cy="274320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887968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9308592" y="5093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 and dashboard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679192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532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THE PORTFOLIO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multiple plants from one controlled environment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people, vendors, work and dashboards remain site-aware—while leadership gains a portfolio view.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18888" y="1764792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12700">
            <a:solidFill>
              <a:srgbClr val="F5B3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773936"/>
            <a:ext cx="23957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PORTFOLIO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2249424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450592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ORGANIZATION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9904" y="3090672"/>
            <a:ext cx="0" cy="521208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286000" y="3611880"/>
            <a:ext cx="7616952" cy="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148840" y="3611880"/>
            <a:ext cx="0" cy="41148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58368" y="4041648"/>
            <a:ext cx="2980944" cy="1545336"/>
          </a:xfrm>
          <a:prstGeom prst="roundRect">
            <a:avLst>
              <a:gd name="adj" fmla="val 11834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" y="4315968"/>
            <a:ext cx="548640" cy="548640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41879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4498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572768" y="48280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assets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users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stock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971032" y="3611880"/>
            <a:ext cx="0" cy="41148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480560" y="4041648"/>
            <a:ext cx="2980944" cy="1545336"/>
          </a:xfrm>
          <a:prstGeom prst="roundRect">
            <a:avLst>
              <a:gd name="adj" fmla="val 11834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4315968"/>
            <a:ext cx="548640" cy="54864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41879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B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498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MW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48280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assets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users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stock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9793224" y="3611880"/>
            <a:ext cx="0" cy="411480"/>
          </a:xfrm>
          <a:prstGeom prst="line">
            <a:avLst/>
          </a:prstGeom>
          <a:noFill/>
          <a:ln w="2540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302752" y="4041648"/>
            <a:ext cx="2980944" cy="1545336"/>
          </a:xfrm>
          <a:prstGeom prst="roundRect">
            <a:avLst>
              <a:gd name="adj" fmla="val 11834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31352" y="4315968"/>
            <a:ext cx="548640" cy="548640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31352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217152" y="41879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217152" y="4498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MW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9217152" y="482803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assets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users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&amp; stock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58368" y="5833872"/>
            <a:ext cx="10789920" cy="438912"/>
          </a:xfrm>
          <a:prstGeom prst="roundRect">
            <a:avLst>
              <a:gd name="adj" fmla="val 41667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6112" y="59161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Site-scoped access • shared standards • portfolio dashboards • cross-site inventory transfer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418588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2722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RESPONSIBILITY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role the access—and approval responsibility—it needs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permissions protect each plant while configurable approvals add control to critical actions.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1783080"/>
            <a:ext cx="5715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OPERATING ROLES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066544"/>
            <a:ext cx="571500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30352" y="2185416"/>
            <a:ext cx="2578608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295144"/>
            <a:ext cx="384048" cy="38404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2240280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24871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portfolio control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328416" y="2185416"/>
            <a:ext cx="2578608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6432" y="2295144"/>
            <a:ext cx="384048" cy="384048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56432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968496" y="2240280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3968496" y="24871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across sites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30352" y="2990088"/>
            <a:ext cx="2578608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099816"/>
            <a:ext cx="384048" cy="38404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3044952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1080" dirty="0"/>
          </a:p>
        </p:txBody>
      </p:sp>
      <p:sp>
        <p:nvSpPr>
          <p:cNvPr id="30" name="Text 28"/>
          <p:cNvSpPr txBox="1"/>
          <p:nvPr/>
        </p:nvSpPr>
        <p:spPr>
          <a:xfrm>
            <a:off x="1170432" y="32918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&amp; employees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3328416" y="2990088"/>
            <a:ext cx="2578608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56432" y="3099816"/>
            <a:ext cx="384048" cy="384048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56432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968496" y="3044952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3968496" y="32918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Assigned-site operations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530352" y="3794760"/>
            <a:ext cx="2578608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3904488"/>
            <a:ext cx="384048" cy="38404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170432" y="3849624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Manager</a:t>
            </a:r>
            <a:endParaRPr lang="en-US" sz="1080" dirty="0"/>
          </a:p>
        </p:txBody>
      </p:sp>
      <p:sp>
        <p:nvSpPr>
          <p:cNvPr id="40" name="Text 38"/>
          <p:cNvSpPr txBox="1"/>
          <p:nvPr/>
        </p:nvSpPr>
        <p:spPr>
          <a:xfrm>
            <a:off x="1170432" y="409651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approvals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3328416" y="3794760"/>
            <a:ext cx="2578608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904488"/>
            <a:ext cx="384048" cy="384048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56432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968496" y="3849624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080" dirty="0"/>
          </a:p>
        </p:txBody>
      </p:sp>
      <p:sp>
        <p:nvSpPr>
          <p:cNvPr id="45" name="Text 43"/>
          <p:cNvSpPr txBox="1"/>
          <p:nvPr/>
        </p:nvSpPr>
        <p:spPr>
          <a:xfrm>
            <a:off x="3968496" y="409651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work execution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530352" y="4599432"/>
            <a:ext cx="2578608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4709160"/>
            <a:ext cx="384048" cy="38404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170432" y="4654296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080" dirty="0"/>
          </a:p>
        </p:txBody>
      </p:sp>
      <p:sp>
        <p:nvSpPr>
          <p:cNvPr id="50" name="Text 48"/>
          <p:cNvSpPr txBox="1"/>
          <p:nvPr/>
        </p:nvSpPr>
        <p:spPr>
          <a:xfrm>
            <a:off x="1170432" y="490118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visibility</a:t>
            </a:r>
            <a:endParaRPr lang="en-US" sz="870" dirty="0"/>
          </a:p>
        </p:txBody>
      </p:sp>
      <p:sp>
        <p:nvSpPr>
          <p:cNvPr id="51" name="Text 49"/>
          <p:cNvSpPr txBox="1"/>
          <p:nvPr/>
        </p:nvSpPr>
        <p:spPr>
          <a:xfrm>
            <a:off x="6592824" y="1783080"/>
            <a:ext cx="5047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APPROVAL GATES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592824" y="2066544"/>
            <a:ext cx="5047488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6592824" y="2194560"/>
            <a:ext cx="504748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92824" y="2194560"/>
            <a:ext cx="73152" cy="658368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39712" y="2340864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39712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525512" y="226771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schedule create / update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7525512" y="255117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maintenance-manager gate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592824" y="3026664"/>
            <a:ext cx="504748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92824" y="3026664"/>
            <a:ext cx="73152" cy="658368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39712" y="3172968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839712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525512" y="309981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work-order generation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7525512" y="338328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approval before release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592824" y="3858768"/>
            <a:ext cx="504748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92824" y="3858768"/>
            <a:ext cx="73152" cy="658368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39712" y="4005072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39712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525512" y="393192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create / close</a:t>
            </a:r>
            <a:endParaRPr lang="en-US" sz="1150" dirty="0"/>
          </a:p>
        </p:txBody>
      </p:sp>
      <p:sp>
        <p:nvSpPr>
          <p:cNvPr id="70" name="Text 68"/>
          <p:cNvSpPr txBox="1"/>
          <p:nvPr/>
        </p:nvSpPr>
        <p:spPr>
          <a:xfrm>
            <a:off x="7525512" y="421538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entry and closure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6592824" y="4690872"/>
            <a:ext cx="504748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92824" y="4690872"/>
            <a:ext cx="73152" cy="65836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39712" y="4837176"/>
            <a:ext cx="420624" cy="420624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839712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7525512" y="476402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reserve / issue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7525512" y="504748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inventory movement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6592824" y="5641848"/>
            <a:ext cx="5047488" cy="530352"/>
          </a:xfrm>
          <a:prstGeom prst="roundRect">
            <a:avLst>
              <a:gd name="adj" fmla="val 27586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858000" y="576072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→  Inbox  →  Approve / Reject  →  History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9718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825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BEFORE WORK IS FORGOTTEN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due dates and risk conditions into actionable alerts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role-aware notification center can deliver verified product events through in-app and email channels.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56048" y="2212848"/>
            <a:ext cx="2194560" cy="219456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1808" y="2578608"/>
            <a:ext cx="1463040" cy="1463040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85816" y="291693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1947672"/>
            <a:ext cx="278892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112264"/>
            <a:ext cx="457200" cy="457200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206654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due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58368" y="3822192"/>
            <a:ext cx="278892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986784"/>
            <a:ext cx="457200" cy="457200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426464" y="394106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 overdue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58368" y="4901184"/>
            <a:ext cx="278892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065776"/>
            <a:ext cx="457200" cy="457200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426464" y="502005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pending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741664" y="3822192"/>
            <a:ext cx="278892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06256" y="3986784"/>
            <a:ext cx="457200" cy="45720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06256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0" y="394106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 low stock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8741664" y="1947672"/>
            <a:ext cx="2788920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06256" y="2112264"/>
            <a:ext cx="457200" cy="457200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06256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509760" y="206654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expiring or expired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3474720" y="2340864"/>
            <a:ext cx="1517904" cy="658368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474720" y="4215384"/>
            <a:ext cx="1517904" cy="0"/>
          </a:xfrm>
          <a:prstGeom prst="line">
            <a:avLst/>
          </a:prstGeom>
          <a:noFill/>
          <a:ln w="19050">
            <a:solidFill>
              <a:srgbClr val="E45D5D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205472" y="2999232"/>
            <a:ext cx="1517904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205472" y="3630168"/>
            <a:ext cx="1517904" cy="585216"/>
          </a:xfrm>
          <a:prstGeom prst="line">
            <a:avLst/>
          </a:prstGeom>
          <a:noFill/>
          <a:ln w="19050">
            <a:solidFill>
              <a:srgbClr val="2E7BB4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474720" y="5294376"/>
            <a:ext cx="1691640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053328" y="4407408"/>
            <a:ext cx="0" cy="676656"/>
          </a:xfrm>
          <a:prstGeom prst="line">
            <a:avLst/>
          </a:prstGeom>
          <a:noFill/>
          <a:ln w="19050">
            <a:solidFill>
              <a:srgbClr val="149B68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114800" y="5084064"/>
            <a:ext cx="3950208" cy="786384"/>
          </a:xfrm>
          <a:prstGeom prst="roundRect">
            <a:avLst>
              <a:gd name="adj" fmla="val 18605"/>
            </a:avLst>
          </a:prstGeom>
          <a:solidFill>
            <a:srgbClr val="E7F7F0"/>
          </a:solidFill>
          <a:ln w="12700">
            <a:solidFill>
              <a:srgbClr val="149B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52544" y="5184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DELIVERY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352544" y="5431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center • unread status • email option • direct link to the record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4718304" y="5989320"/>
            <a:ext cx="2761488" cy="292608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12700">
            <a:solidFill>
              <a:srgbClr val="F5B33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91456" y="5998464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ALERT TYPES SHOWN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9718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825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WORK—WITHOUT CHASING UPDATES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daily maintenance activity into management visibility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dashboards surface operational priorities; reports support deeper equipment, downtime and cost analysis.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1783080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VISIBILITY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066544"/>
            <a:ext cx="5577840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30352" y="22128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2359152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4128" y="22585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  Total equipment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2128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2424" y="2359152"/>
            <a:ext cx="237744" cy="23774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39896" y="22585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  Open requests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" y="28986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044952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" y="29443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  Downtime hours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8986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2424" y="3044952"/>
            <a:ext cx="237744" cy="23774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39896" y="29443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  Low-stock spares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0352" y="35844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3730752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" y="36301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  Upcoming PM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35844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2424" y="3730752"/>
            <a:ext cx="237744" cy="23774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39896" y="36301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  Vendor performance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" y="42702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7F7F0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4416552"/>
            <a:ext cx="237744" cy="23774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4128" y="43159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  Assignment queue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46120" y="4270248"/>
            <a:ext cx="2487168" cy="530352"/>
          </a:xfrm>
          <a:prstGeom prst="roundRect">
            <a:avLst>
              <a:gd name="adj" fmla="val 20690"/>
            </a:avLst>
          </a:prstGeom>
          <a:solidFill>
            <a:srgbClr val="EAF4F8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2424" y="4416552"/>
            <a:ext cx="237744" cy="23774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39896" y="43159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  Active AMC contracts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0352" y="5102352"/>
            <a:ext cx="5202936" cy="987552"/>
          </a:xfrm>
          <a:prstGeom prst="roundRect">
            <a:avLst>
              <a:gd name="adj" fmla="val 14815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52760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WIDGETS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86384" y="553212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Management, maintenance, technician and inventory views surface the queues each team can act on.</a:t>
            </a:r>
            <a:endParaRPr lang="en-US" sz="1080" dirty="0"/>
          </a:p>
        </p:txBody>
      </p:sp>
      <p:sp>
        <p:nvSpPr>
          <p:cNvPr id="43" name="Text 41"/>
          <p:cNvSpPr txBox="1"/>
          <p:nvPr/>
        </p:nvSpPr>
        <p:spPr>
          <a:xfrm>
            <a:off x="6080760" y="1783080"/>
            <a:ext cx="5559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REPORTING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2066544"/>
            <a:ext cx="5559552" cy="0"/>
          </a:xfrm>
          <a:prstGeom prst="line">
            <a:avLst/>
          </a:prstGeom>
          <a:noFill/>
          <a:ln w="17780">
            <a:solidFill>
              <a:srgbClr val="149B68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080760" y="2212848"/>
            <a:ext cx="5559552" cy="630936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72784" y="2368296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5936" y="2377440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516368" y="22860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history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9235440" y="2286000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• assignments • downtime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80760" y="2999232"/>
            <a:ext cx="5559552" cy="630936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784" y="315468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45936" y="3163824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7516368" y="307238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9235440" y="3072384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unplanned • duration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80760" y="3785616"/>
            <a:ext cx="5559552" cy="630936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72784" y="394106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 w="12700">
            <a:solidFill>
              <a:srgbClr val="F5B33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345936" y="395020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516368" y="38587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cost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9235440" y="3858768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• spares • downtime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80760" y="4572000"/>
            <a:ext cx="5559552" cy="630936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472744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345936" y="473659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7516368" y="46451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groupings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9235440" y="4645152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• category • criticality • TCO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080760" y="5513832"/>
            <a:ext cx="5559552" cy="576072"/>
          </a:xfrm>
          <a:prstGeom prst="roundRect">
            <a:avLst>
              <a:gd name="adj" fmla="val 25397"/>
            </a:avLst>
          </a:prstGeom>
          <a:solidFill>
            <a:srgbClr val="E7F7F0"/>
          </a:solidFill>
          <a:ln w="12700">
            <a:solidFill>
              <a:srgbClr val="149B6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45936" y="56327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with a shared operational picture—not a manually assembled spreadsheet.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157984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INTELLIGENCE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asset—and understand its complete maintenance context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equipment view and linked reports bring reliability, maintenance, downtime, coverage, evidence and cost together.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36008" y="2286000"/>
            <a:ext cx="2852928" cy="285292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1768" y="2651760"/>
            <a:ext cx="2121408" cy="212140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2916936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2926080"/>
            <a:ext cx="1152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332841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928616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asset • one operating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2651760"/>
            <a:ext cx="2971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2834640"/>
            <a:ext cx="457200" cy="457200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27432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2999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lifecycle • documents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" y="3776472"/>
            <a:ext cx="2971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3959352"/>
            <a:ext cx="457200" cy="45720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38679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1239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• MTBF • MTTR • repeat failures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24712" y="4956048"/>
            <a:ext cx="2971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1872" y="5138928"/>
            <a:ext cx="457200" cy="457200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61872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856232" y="5047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856232" y="53035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 and equipment history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92440" y="4956048"/>
            <a:ext cx="2971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5138928"/>
            <a:ext cx="457200" cy="457200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823960" y="5047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823960" y="53035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schedules • next due • last maintenance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668512" y="3776472"/>
            <a:ext cx="2971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5672" y="3959352"/>
            <a:ext cx="457200" cy="457200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80567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400032" y="38679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400032" y="41239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• last event • reason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668512" y="2651760"/>
            <a:ext cx="2971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05672" y="2834640"/>
            <a:ext cx="457200" cy="457200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80567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400032" y="27432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400032" y="29992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coverage and contract history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35240" y="1792224"/>
            <a:ext cx="233172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0" y="1975104"/>
            <a:ext cx="457200" cy="457200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7240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8366760" y="18836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366760" y="21396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BOM and site stock links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21992" y="1792224"/>
            <a:ext cx="233172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59152" y="1975104"/>
            <a:ext cx="457200" cy="457200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35915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2953512" y="18836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2953512" y="21396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• maintenance • spares • TCO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2057400" y="5989320"/>
            <a:ext cx="8074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ASSET. ONE MAINTENANCE CONTEXT. ONE SOURCE OF TRUTH.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157984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fragmented maintenance to controlled plant operations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before-and-after for the day-to-day reality of solar O&amp;M.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856232"/>
            <a:ext cx="5349240" cy="4315968"/>
          </a:xfrm>
          <a:prstGeom prst="roundRect">
            <a:avLst>
              <a:gd name="adj" fmla="val 4237"/>
            </a:avLst>
          </a:prstGeom>
          <a:solidFill>
            <a:srgbClr val="FCEBEC"/>
          </a:solidFill>
          <a:ln w="12700">
            <a:solidFill>
              <a:srgbClr val="E45D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148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157984"/>
            <a:ext cx="950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633472"/>
            <a:ext cx="4553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by memory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59536" y="3227832"/>
            <a:ext cx="292608" cy="29260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209544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asset lists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59536" y="3657600"/>
            <a:ext cx="292608" cy="29260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3639312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859536" y="4087368"/>
            <a:ext cx="292608" cy="29260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4069080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for assignment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59536" y="4517136"/>
            <a:ext cx="292608" cy="29260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9536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4498848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status updates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59536" y="4946904"/>
            <a:ext cx="292608" cy="29260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9536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298448" y="4928616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reminders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59536" y="5376672"/>
            <a:ext cx="292608" cy="292608"/>
          </a:xfrm>
          <a:prstGeom prst="ellipse">
            <a:avLst/>
          </a:prstGeom>
          <a:solidFill>
            <a:srgbClr val="E45D5D"/>
          </a:solidFill>
          <a:ln w="12700">
            <a:solidFill>
              <a:srgbClr val="E45D5D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9536" y="5376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298448" y="5358384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vendor &amp; work records</a:t>
            </a:r>
            <a:endParaRPr lang="en-US" sz="1120" dirty="0"/>
          </a:p>
        </p:txBody>
      </p:sp>
      <p:sp>
        <p:nvSpPr>
          <p:cNvPr id="36" name="Text 34"/>
          <p:cNvSpPr txBox="1"/>
          <p:nvPr/>
        </p:nvSpPr>
        <p:spPr>
          <a:xfrm>
            <a:off x="859536" y="577900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4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hand-offs • unclear ownership • weak history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14416" y="3621024"/>
            <a:ext cx="969264" cy="969264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14416" y="358444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100" dirty="0"/>
          </a:p>
        </p:txBody>
      </p:sp>
      <p:sp>
        <p:nvSpPr>
          <p:cNvPr id="39" name="Shape 37"/>
          <p:cNvSpPr/>
          <p:nvPr/>
        </p:nvSpPr>
        <p:spPr>
          <a:xfrm>
            <a:off x="6309360" y="1856232"/>
            <a:ext cx="5330952" cy="4315968"/>
          </a:xfrm>
          <a:prstGeom prst="roundRect">
            <a:avLst>
              <a:gd name="adj" fmla="val 4237"/>
            </a:avLst>
          </a:prstGeom>
          <a:solidFill>
            <a:srgbClr val="E7F7F0"/>
          </a:solidFill>
          <a:ln w="12700">
            <a:solidFill>
              <a:srgbClr val="149B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0256" y="21488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93408" y="2157984"/>
            <a:ext cx="950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620256" y="2633472"/>
            <a:ext cx="4553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with control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6638544" y="3227832"/>
            <a:ext cx="292608" cy="29260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38544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7077456" y="3209544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asset records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6638544" y="3657600"/>
            <a:ext cx="292608" cy="29260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38544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7077456" y="3639312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request-to-close workflow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6638544" y="4087368"/>
            <a:ext cx="292608" cy="29260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38544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077456" y="4069080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preventive maintenance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6638544" y="4517136"/>
            <a:ext cx="292608" cy="29260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38544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077456" y="4498848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responsibility &amp; evidence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6638544" y="4946904"/>
            <a:ext cx="292608" cy="29260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638544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077456" y="4928616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and RCA visibility</a:t>
            </a:r>
            <a:endParaRPr lang="en-US" sz="1120" dirty="0"/>
          </a:p>
        </p:txBody>
      </p:sp>
      <p:sp>
        <p:nvSpPr>
          <p:cNvPr id="58" name="Shape 56"/>
          <p:cNvSpPr/>
          <p:nvPr/>
        </p:nvSpPr>
        <p:spPr>
          <a:xfrm>
            <a:off x="6638544" y="5376672"/>
            <a:ext cx="292608" cy="292608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638544" y="5376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7077456" y="5358384"/>
            <a:ext cx="4041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dashboards &amp; reports</a:t>
            </a:r>
            <a:endParaRPr lang="en-US" sz="1120" dirty="0"/>
          </a:p>
        </p:txBody>
      </p:sp>
      <p:sp>
        <p:nvSpPr>
          <p:cNvPr id="61" name="Text 59"/>
          <p:cNvSpPr txBox="1"/>
          <p:nvPr/>
        </p:nvSpPr>
        <p:spPr>
          <a:xfrm>
            <a:off x="6638544" y="5779008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visibility • faster decisions • retained knowledge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10896"/>
            <a:ext cx="2071116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E7F7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3504" y="320040"/>
            <a:ext cx="19248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13232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stronger operating system for solar O&amp;M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893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comes from disciplined execution, better information and reusable maintenance knowledge—not invented percentage claims.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292840" y="256032"/>
            <a:ext cx="438912" cy="438912"/>
          </a:xfrm>
          <a:prstGeom prst="ellipse">
            <a:avLst/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12296" y="11887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512296" y="713232"/>
            <a:ext cx="0" cy="109728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128248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777472" y="475488"/>
            <a:ext cx="109728" cy="0"/>
          </a:xfrm>
          <a:prstGeom prst="line">
            <a:avLst/>
          </a:prstGeom>
          <a:noFill/>
          <a:ln w="1905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D6E0E7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2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1837944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1965960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43584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equipment availability</a:t>
            </a:r>
            <a:endParaRPr lang="en-US" sz="1120" dirty="0"/>
          </a:p>
        </p:txBody>
      </p:sp>
      <p:sp>
        <p:nvSpPr>
          <p:cNvPr id="18" name="Text 16"/>
          <p:cNvSpPr txBox="1"/>
          <p:nvPr/>
        </p:nvSpPr>
        <p:spPr>
          <a:xfrm>
            <a:off x="3364992" y="1883664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work earlier and restore assets through a controlled process.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172200" y="1837944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965960"/>
            <a:ext cx="420624" cy="42062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response delays</a:t>
            </a:r>
            <a:endParaRPr lang="en-US" sz="112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1883664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issues quickly from record to priority, owner and action.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530352" y="2688336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2816352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43584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PM compliance</a:t>
            </a:r>
            <a:endParaRPr lang="en-US" sz="1120" dirty="0"/>
          </a:p>
        </p:txBody>
      </p:sp>
      <p:sp>
        <p:nvSpPr>
          <p:cNvPr id="28" name="Text 26"/>
          <p:cNvSpPr txBox="1"/>
          <p:nvPr/>
        </p:nvSpPr>
        <p:spPr>
          <a:xfrm>
            <a:off x="3364992" y="2734056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calendars, due reminders and auto-generated work orders.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6172200" y="2688336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816352"/>
            <a:ext cx="420624" cy="42062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accountability</a:t>
            </a:r>
            <a:endParaRPr lang="en-US" sz="112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2734056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responsibility, timing, findings, action and evidence.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530352" y="3538728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3666744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7512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243584" y="3593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downtime visibility</a:t>
            </a:r>
            <a:endParaRPr lang="en-US" sz="1120" dirty="0"/>
          </a:p>
        </p:txBody>
      </p:sp>
      <p:sp>
        <p:nvSpPr>
          <p:cNvPr id="38" name="Text 36"/>
          <p:cNvSpPr txBox="1"/>
          <p:nvPr/>
        </p:nvSpPr>
        <p:spPr>
          <a:xfrm>
            <a:off x="3364992" y="3584448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duration, repeat failures, timelines and root cause.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6172200" y="3538728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666744"/>
            <a:ext cx="420624" cy="42062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936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885432" y="3593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spares with context</a:t>
            </a:r>
            <a:endParaRPr lang="en-US" sz="1120" dirty="0"/>
          </a:p>
        </p:txBody>
      </p:sp>
      <p:sp>
        <p:nvSpPr>
          <p:cNvPr id="43" name="Text 41"/>
          <p:cNvSpPr txBox="1"/>
          <p:nvPr/>
        </p:nvSpPr>
        <p:spPr>
          <a:xfrm>
            <a:off x="9006840" y="3584448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site stock, reservations, consumption, reorders and equipment BOM.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530352" y="4389120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7512" y="4517136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" y="4517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243584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external service</a:t>
            </a:r>
            <a:endParaRPr lang="en-US" sz="1120" dirty="0"/>
          </a:p>
        </p:txBody>
      </p:sp>
      <p:sp>
        <p:nvSpPr>
          <p:cNvPr id="48" name="Text 46"/>
          <p:cNvSpPr txBox="1"/>
          <p:nvPr/>
        </p:nvSpPr>
        <p:spPr>
          <a:xfrm>
            <a:off x="3364992" y="4434840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vendors, AMC coverage, equipment, SLAs and renewals.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6172200" y="4389120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4517136"/>
            <a:ext cx="420624" cy="42062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09360" y="4517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885432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every plant</a:t>
            </a:r>
            <a:endParaRPr lang="en-US" sz="1120" dirty="0"/>
          </a:p>
        </p:txBody>
      </p:sp>
      <p:sp>
        <p:nvSpPr>
          <p:cNvPr id="53" name="Text 51"/>
          <p:cNvSpPr txBox="1"/>
          <p:nvPr/>
        </p:nvSpPr>
        <p:spPr>
          <a:xfrm>
            <a:off x="9006840" y="4434840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workflow while preserving site-level access and ownership.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530352" y="5239512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" y="5367528"/>
            <a:ext cx="420624" cy="420624"/>
          </a:xfrm>
          <a:prstGeom prst="ellipse">
            <a:avLst/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67512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243584" y="5294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management visibility</a:t>
            </a:r>
            <a:endParaRPr lang="en-US" sz="1120" dirty="0"/>
          </a:p>
        </p:txBody>
      </p:sp>
      <p:sp>
        <p:nvSpPr>
          <p:cNvPr id="58" name="Text 56"/>
          <p:cNvSpPr txBox="1"/>
          <p:nvPr/>
        </p:nvSpPr>
        <p:spPr>
          <a:xfrm>
            <a:off x="3364992" y="5285232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role-aware dashboards and equipment, downtime and cost reports.</a:t>
            </a:r>
            <a:endParaRPr lang="en-US" sz="890" dirty="0"/>
          </a:p>
        </p:txBody>
      </p:sp>
      <p:sp>
        <p:nvSpPr>
          <p:cNvPr id="59" name="Shape 57"/>
          <p:cNvSpPr/>
          <p:nvPr/>
        </p:nvSpPr>
        <p:spPr>
          <a:xfrm>
            <a:off x="6172200" y="5239512"/>
            <a:ext cx="5340096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6E0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5367528"/>
            <a:ext cx="420624" cy="420624"/>
          </a:xfrm>
          <a:prstGeom prst="ellipse">
            <a:avLst/>
          </a:prstGeom>
          <a:solidFill>
            <a:srgbClr val="2E7BB4"/>
          </a:solidFill>
          <a:ln w="12700">
            <a:solidFill>
              <a:srgbClr val="2E7BB4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09360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885432" y="5294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long-term asset knowledge</a:t>
            </a:r>
            <a:endParaRPr lang="en-US" sz="1120" dirty="0"/>
          </a:p>
        </p:txBody>
      </p:sp>
      <p:sp>
        <p:nvSpPr>
          <p:cNvPr id="63" name="Text 61"/>
          <p:cNvSpPr txBox="1"/>
          <p:nvPr/>
        </p:nvSpPr>
        <p:spPr>
          <a:xfrm>
            <a:off x="9006840" y="5285232"/>
            <a:ext cx="2258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9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maintenance context needed for better future decisions.</a:t>
            </a:r>
            <a:endParaRPr lang="en-US" sz="890" dirty="0"/>
          </a:p>
        </p:txBody>
      </p:sp>
      <p:sp>
        <p:nvSpPr>
          <p:cNvPr id="64" name="Shape 62"/>
          <p:cNvSpPr/>
          <p:nvPr/>
        </p:nvSpPr>
        <p:spPr>
          <a:xfrm>
            <a:off x="530352" y="6144768"/>
            <a:ext cx="1110996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roduction\Documents\Sof_projects\workspace\docs\marketing\assets\solar-plant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82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42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40080"/>
            <a:ext cx="2039112" cy="292608"/>
          </a:xfrm>
          <a:prstGeom prst="roundRect">
            <a:avLst>
              <a:gd name="adj" fmla="val 50000"/>
            </a:avLst>
          </a:prstGeom>
          <a:solidFill>
            <a:srgbClr val="F5B335"/>
          </a:solidFill>
          <a:ln w="12700">
            <a:solidFill>
              <a:srgbClr val="F5B335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649224"/>
            <a:ext cx="1892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PROPOSITION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298448"/>
            <a:ext cx="70408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Maintenance.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Equipment Availability.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Solar Plant Operations.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58368" y="3767328"/>
            <a:ext cx="1709928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3858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24328" y="3767328"/>
            <a:ext cx="1709928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52344" y="3858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2752344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90288" y="3767328"/>
            <a:ext cx="1709928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18304" y="3858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718304" y="4078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4709160"/>
            <a:ext cx="1709928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4800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5020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624328" y="4709160"/>
            <a:ext cx="1709928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52344" y="4800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SPARES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2752344" y="5020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90288" y="4709160"/>
            <a:ext cx="1709928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18304" y="4800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B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4718304" y="5020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28432" y="1097280"/>
            <a:ext cx="3493008" cy="4407408"/>
          </a:xfrm>
          <a:prstGeom prst="roundRect">
            <a:avLst>
              <a:gd name="adj" fmla="val 5759"/>
            </a:avLst>
          </a:prstGeom>
          <a:solidFill>
            <a:srgbClr val="0B1F33">
              <a:alpha val="92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94192" y="1536192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maintenance platform built for operational control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8705088" y="2514600"/>
            <a:ext cx="2139696" cy="0"/>
          </a:xfrm>
          <a:prstGeom prst="line">
            <a:avLst/>
          </a:prstGeom>
          <a:noFill/>
          <a:ln w="25400">
            <a:solidFill>
              <a:srgbClr val="F5B335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8430768" y="2770632"/>
            <a:ext cx="2697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1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Assets and equipment health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1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Preventive and corrective work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1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Assignments, logs and evidence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1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Downtime, RCA and restoration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1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Spares, vendors and AMC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1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Dashboards, reports and approvals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430768" y="4910328"/>
            <a:ext cx="2688336" cy="292608"/>
          </a:xfrm>
          <a:prstGeom prst="roundRect">
            <a:avLst>
              <a:gd name="adj" fmla="val 50000"/>
            </a:avLst>
          </a:prstGeom>
          <a:solidFill>
            <a:srgbClr val="149B68"/>
          </a:solidFill>
          <a:ln w="12700">
            <a:solidFill>
              <a:srgbClr val="149B68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03920" y="4919472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SALES CONVERSATION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30352" y="6519672"/>
            <a:ext cx="11109960" cy="0"/>
          </a:xfrm>
          <a:prstGeom prst="line">
            <a:avLst/>
          </a:prstGeom>
          <a:noFill/>
          <a:ln w="10160">
            <a:solidFill>
              <a:srgbClr val="365269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530352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8C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O&amp;M  |  CURRENT PRODUCT CAPABILITIES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11192256" y="6547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2035</Words>
  <Application>Microsoft Office PowerPoint</Application>
  <PresentationFormat>Custom</PresentationFormat>
  <Paragraphs>586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CMMS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Plant Maintenance &amp; Asset Management Platform</dc:title>
  <dc:subject>Solar plant maintenance and asset management</dc:subject>
  <dc:creator>OpenAI Codex</dc:creator>
  <cp:lastModifiedBy>production</cp:lastModifiedBy>
  <cp:revision>1</cp:revision>
  <dcterms:created xsi:type="dcterms:W3CDTF">2026-08-11T05:55:03Z</dcterms:created>
  <dcterms:modified xsi:type="dcterms:W3CDTF">2026-08-11T05:55:13Z</dcterms:modified>
</cp:coreProperties>
</file>