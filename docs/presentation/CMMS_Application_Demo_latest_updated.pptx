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7" r:id="rId30"/>
    <p:sldId id="288" r:id="rId31"/>
    <p:sldId id="289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09" r:id="rId51"/>
    <p:sldId id="310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64.xml"/><Relationship Id="rId52" Type="http://schemas.openxmlformats.org/officeDocument/2006/relationships/slide" Target="slides/slide65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63.xml"/><Relationship Id="rId59" Type="http://schemas.openxmlformats.org/officeDocument/2006/relationships/slide" Target="slides/slide62.xml"/><Relationship Id="rId60" Type="http://schemas.openxmlformats.org/officeDocument/2006/relationships/slide" Target="slides/slide61.xml"/><Relationship Id="rId61" Type="http://schemas.openxmlformats.org/officeDocument/2006/relationships/slide" Target="slides/slide60.xml"/><Relationship Id="rId62" Type="http://schemas.openxmlformats.org/officeDocument/2006/relationships/slide" Target="slides/slide59.xml"/><Relationship Id="rId63" Type="http://schemas.openxmlformats.org/officeDocument/2006/relationships/slide" Target="slides/slide58.xml"/><Relationship Id="rId64" Type="http://schemas.openxmlformats.org/officeDocument/2006/relationships/slide" Target="slides/slide57.xml"/><Relationship Id="rId65" Type="http://schemas.openxmlformats.org/officeDocument/2006/relationships/slide" Target="slides/slide56.xml"/><Relationship Id="rId66" Type="http://schemas.openxmlformats.org/officeDocument/2006/relationships/slide" Target="slides/slide55.xml"/><Relationship Id="rId67" Type="http://schemas.openxmlformats.org/officeDocument/2006/relationships/slide" Target="slides/slide54.xml"/><Relationship Id="rId68" Type="http://schemas.openxmlformats.org/officeDocument/2006/relationships/slide" Target="slides/slide53.xml"/><Relationship Id="rId69" Type="http://schemas.openxmlformats.org/officeDocument/2006/relationships/slide" Target="slides/slide52.xml"/><Relationship Id="rId70" Type="http://schemas.openxmlformats.org/officeDocument/2006/relationships/slide" Target="slides/slide51.xml"/><Relationship Id="rId71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65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594360"/>
            <a:ext cx="6126480" cy="5303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" name="Image 0" descr="C:\andritz_cmms\docs\screenshots\01-cmms-applic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32704" y="1553908"/>
            <a:ext cx="6016752" cy="3384423"/>
          </a:xfrm>
          <a:prstGeom prst="roundRect">
            <a:avLst>
              <a:gd name="adj" fmla="val 240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640080" y="1143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CMMS Application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C107"/>
                </a:solidFill>
              </a:rPr>
              <a:t>Computerized Maintenance Management System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EF9"/>
                </a:solidFill>
              </a:rPr>
              <a:t>Generated from current application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5440680"/>
            <a:ext cx="1325880" cy="438912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9808" y="5568696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7A"/>
                </a:solidFill>
              </a:rPr>
              <a:t>ANDRITZ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46520" y="960120"/>
            <a:ext cx="5257800" cy="5257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2-application-overvie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01384" y="2141125"/>
            <a:ext cx="5148072" cy="289579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858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46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Asset Management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334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Maintenance Management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3434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622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Inventory Management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858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046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Vendor Management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25146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6334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Employee Management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4622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Preventive Maintenance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858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046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Spare Parts Management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25146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6334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Purchase Requests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43434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4622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Reporting and Dashboard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685800" y="461772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Built to connect master data, maintenance execution, spare-parts control, and operational reporting in one flow.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0" y="960120"/>
            <a:ext cx="4389120" cy="5257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3-table-of-conten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70064" y="2385441"/>
            <a:ext cx="4279392" cy="2407158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13232" y="1234440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" y="1316736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43000" y="12252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Application overview and navigation flow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1984248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13232" y="2066544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143000" y="197510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Master data: company, site, employee, roles, vendor, equipment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" y="2734056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13232" y="2816352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43000" y="2724912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Maintenance: request, assignment, downtime, preventive maintenance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" y="3483864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13232" y="3566160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43000" y="34747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Inventory: spare parts, stock movement, purchase requests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3232" y="4233672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13232" y="4315968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43000" y="4224528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Notifications, dashboard, reports, and workflows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</a:t>
            </a:r>
            <a:endParaRPr lang="en-US" sz="75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580644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New enhancement section added: API permission security, site-wise access, reusable UI components, work logs, approvals, notifications, PM reminders, dashboard and demo screenshots.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Application Navigation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60920" y="1005840"/>
            <a:ext cx="4343400" cy="5120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4-application-navigation-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5784" y="2375440"/>
            <a:ext cx="4233672" cy="238144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94360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Company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75560" y="136245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31008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776728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Site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12208" y="136245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67656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13376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Employee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94360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Roles &amp; Permissions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575560" y="207568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31008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76728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Vendor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712208" y="207568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67656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913376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Equipment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0080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Maintenance Request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575560" y="2788920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31008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776728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12208" y="2788920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67656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913376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Downtime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94360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Preventive Maintenance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575560" y="3502152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31008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76728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Spare Parts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712208" y="3502152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67656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913376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Inventory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94360" y="4087368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40080" y="4215384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Purchase Requests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575560" y="4215384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31008" y="4087368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776728" y="4215384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Reports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58368" y="578815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Routes discovered automatically from App.jsx: 54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Creation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5-company-creation-page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Maintain the company master profile used throughout the application.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Phone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or update company profile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Upload and preview company logo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Use company data in navigation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company identity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master information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Site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Site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7-sit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operating locations and service centers.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Geo location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site master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address and contact data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Support active/inactive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site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Site-based maintenance visibility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Site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Site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8-sit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and filter all configured sites.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site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site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 operational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site administration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location hierarchy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Employee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Employee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9-employe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employee master records for operations and maintenance teams.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Employee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Mobile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Designation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Department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employee identity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department/designation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Enable site and user-role assignment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Reliable workforce directory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accountability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Employee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Employee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0-employe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employee records and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Employee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Department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Designation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employee data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employee profile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Deactivate records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 HR-maintenance alignment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technician assignment data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Role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1-rol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Define application roles for access control.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Description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Permissions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reusable roles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Map permissions by module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 page access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Stronger governance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role-based access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Permission 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2-permission-mapping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Assign user roles and site-level access.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User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Map users to roles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Limit access by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role assignments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Preserved authentication flow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Least-privilege access control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Role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3-rol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roles and permission counts.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Permission count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roles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View role permissions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or inactivate roles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Transparent authorization model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Simplified admin review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Vendor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Vendor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4-vendor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service vendors and contractors.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 person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Phone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vendor master data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Enable vendor-site assignment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Support active/inactive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vendor control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assignment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Vendor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Vendor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5-vendor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approved vendors and service categories.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vendors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vendor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Deactivate vendors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contractor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sourcing decisions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6-equipmen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assets and link them to sites.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Manufacturer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Criticality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asset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warranty and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site ownership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asset management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maintenance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7-equipmen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plant assets and operating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Criticality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by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assets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equipment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asset lookup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visibility into critical assets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8-equipment-detail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or edit detailed asset master data.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Installation date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Warranty expiry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Serial number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Complete asset profile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technical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criticality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Accurate maintenance context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lifecycle tracking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9-reques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corrective, breakdown, inspection, or calibration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Title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 maintenance demand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Classify request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target completion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Structured work intake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prioritization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0-reques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Track open and in-progress maintenance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 number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request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backlog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triage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1-request-detail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maintenance request details in read-only context.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Description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Reported by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Target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Read-only 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linkage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request context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handoff to assignments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2-assignmen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Assign maintenance work to technicians and vendors.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Assigned to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 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work assignment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 start/end 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Estimate cost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execution planning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accountability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3-assignmen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Monitor work assignments and execution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Technician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assignments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progress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workload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field coordination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4-assignment-detail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assignment details and spare usage workflow.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Actual 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Read-only assignment 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usage table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Execution tracking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maintenance work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closeout process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5-downtim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Record equipment downtime events.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Reason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planned/unplanned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Calculate duration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request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Accurate downtime accounting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RCA-ready history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6-downtim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downtime events across sites and equipment.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Duration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Reason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loss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maintenance analysis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Tracking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7-downtime-tracking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Inspect downtime event timing and maintenance context.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Start 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End 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Hours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Minutes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Detailed tracking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 linkage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Duration calculation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uptime reporting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reliability metrics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Schedule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8-pm-schedul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recurring preventive maintenance schedules.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 date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Define recurrence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 vendor/site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SLA priority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breakdowns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 maintenance rhythm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9-pm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Track preventive schedules and due work generation.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Active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Completion %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schedules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Generate work orders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Monitor PM compliance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Proactive maintenance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Higher asset availability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2-spare-par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spare part and site stock records.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spare master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min/max levels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Attach vendor/category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Material availability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repair readiness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3-spare-par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Manage site-wise spare stock and actions.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Low stock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inventory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in/adjust/transfer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reorder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stock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Lower maintenance delays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4-stock-vie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current, reserved, and available stock by site.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Current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Reserved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Storage location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Site-level stock 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Low-stock filter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QR label support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transparency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stockouts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Transaction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5-stock-transaction-history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stock movement history for a selected spare part.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Transaction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Quantity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Before/after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transaction history dialog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Audit material movements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inventory activity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Stronger stock control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7-inventory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List site stock records across all spare parts.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inventory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Identify low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stock master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stock administration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spare lookup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Movement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8-stock-movemen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Record stock in, adjustment, and transfer movement.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Movement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Quantity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stock movement dialog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Adjust site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movement remarks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stock updates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auditability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Request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9-purchase-reques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reorder requests from low or planned stock requirements.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item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quantity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Estimated cost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Expected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reorder dialog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purchase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stock item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replenishment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stockout risk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Request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0-purchase-reques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Track reorder and purchase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quantity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View reorder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Receive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purchase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Purchasing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Closed loop stock replenishment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Approval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1-purchase-approval-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spare requests before store processing or purchasing.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Manager approval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Decision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Manager review queue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Approve/reject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Escalate to purchase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material release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approval governance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Notification Center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2-notification-center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system notifications generated from workflows.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Created at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In-app notification list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Read/archive actions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 links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user awareness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exception handling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Notification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3-notification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Configure notification preferences and recipient roles.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 enabled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PM reminders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Overdue alerts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Fallback roles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Adjust notification settings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 reminder windows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Define recipients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Timely escalations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Configurable communication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43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Dashboard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4-dashboard-overvie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Executive view of CMMS status and activity.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Assignments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KPI cards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filters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Recent activity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operational awareness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Single landing view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44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KPI Cards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5-kpi-card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Summarize important operational counts.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Assignments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At-a-glance indicators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Color-coded cards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Site-aware metrics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decision making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Management-ready visibility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45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Charts and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6-charts-and-metric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Visualize trends and operational distribution.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 mix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trends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Maintenance volume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Charts and metric panels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summaries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trend 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Data-driven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46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Settings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7-company-profile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Maintain company profile data used by the application shell.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company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Persist master profile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enterprise identity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configuration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47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Settings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Logo 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8-logo-configur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Upload and preview company branding.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preview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upload field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Preview configured branding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Branded demos and reports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presentation layer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48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Maintenance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9-maintenance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Corrective work moves from request intake to assignment, technician execution, and closure.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Maintenance Request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Technician Work Log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49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Preventive Maintenance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0-preventive-maintenance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Recurring schedules generate planned work orders that follow the standard assignment and completion path.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PM Schedule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Auto Generation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50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Parts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1-spare-parts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Spare requests are approved, checked for stock, issued when available, or converted to purchase requests.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Technician Request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Manager Approval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Store Manager Review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Stock Available?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17648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73096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18816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Issue / Purchase Request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32376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87824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33544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Consume / Return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51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2-inventory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Inventory movements preserve traceability from reservation through issue, consumption, and return.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Stock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Reserve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Issue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Consume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17648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73096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18816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Return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52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Reports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Reports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3-reports-analytic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Analyze equipment history and downtime performance.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Date range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hours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analysis report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history report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Filterable views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Reliability insights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maintenance prioritization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53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Benefits of the New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Governance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Centralized endpoint authorization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Least-privilege role control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Auditable approval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Reliability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Preventive reminders reduce missed PM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Work logs improve closure quality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Downtime and history support RCA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1188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Inventory Control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Closed-loop spare requests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Stock visibility before issue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Purchase escalation when unavailable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1188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C62828"/>
                </a:solidFill>
                <a:latin typeface="Arial"/>
              </a:defRPr>
            </a:pPr>
            <a:r>
              <a:t>User Productivity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 components standardize forms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Role-based navigation reduces clutter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Notifications bring work to the user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Demo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Updated Application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03_permission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3246120" cy="20288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3601593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Permission catalog</a:t>
            </a:r>
          </a:p>
        </p:txBody>
      </p:sp>
      <p:pic>
        <p:nvPicPr>
          <p:cNvPr id="11" name="Picture 10" descr="04_equipmen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08760"/>
            <a:ext cx="3246120" cy="20288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297680" y="3601593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Equipment list</a:t>
            </a:r>
          </a:p>
        </p:txBody>
      </p:sp>
      <p:pic>
        <p:nvPicPr>
          <p:cNvPr id="13" name="Picture 12" descr="05_equipment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08760"/>
            <a:ext cx="3246120" cy="20288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001000" y="3601593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Equipment view</a:t>
            </a:r>
          </a:p>
        </p:txBody>
      </p:sp>
      <p:pic>
        <p:nvPicPr>
          <p:cNvPr id="15" name="Picture 14" descr="07_spare_store_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49039"/>
            <a:ext cx="3246120" cy="20288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94360" y="5841872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Store spare workflow</a:t>
            </a:r>
          </a:p>
        </p:txBody>
      </p:sp>
      <p:pic>
        <p:nvPicPr>
          <p:cNvPr id="17" name="Picture 16" descr="08_technician_work_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749039"/>
            <a:ext cx="3246120" cy="20288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297680" y="5841872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Technician work log</a:t>
            </a:r>
          </a:p>
        </p:txBody>
      </p:sp>
      <p:pic>
        <p:nvPicPr>
          <p:cNvPr id="19" name="Picture 18" descr="10_preventive_mainten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749039"/>
            <a:ext cx="3246120" cy="20288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8001000" y="5841872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Preventive maintenance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Dashboard &amp;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Dashboard and Reporting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01_dashboard_nav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05765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5630418"/>
            <a:ext cx="6492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Dashboard summary cards and site filter provide quick operational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91640"/>
            <a:ext cx="37947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Dashboard Indicators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Equipment count and status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Maintenance request status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Downtime summary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Low stock indicators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Site-aware KPI filtering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977639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Reports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Equipment history report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Downtime analysis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Filterable views for management review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Preventive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Preventive Maintenance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10_preventive_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583680" cy="411480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5687568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PM list supports due work generation, calendar access, status, and completion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691640"/>
            <a:ext cx="3703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Enhancements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PM schedules by equipment/site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Checklist-driven execution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Due reminder notifications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Generated work orders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Status and completion percentage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2519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Business Value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Moves maintenance from reactive to planned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Improves compliance and uptime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Notification Bell and Company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09_notification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05765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5630418"/>
            <a:ext cx="6492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Top navbar shows company logo/name, notification badge, avatar, and logout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91640"/>
            <a:ext cx="3794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Notification Types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PM due reminder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Overdue request alert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Approval pending alert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In-app notification center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Read/archive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977639"/>
            <a:ext cx="37947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Branding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Company logo in navbar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Company name shown globally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User avatar and logout menu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Approval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11_approval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217920" cy="388620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5458968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Pending approvals are filtered for the logged-in approver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828800"/>
            <a:ext cx="709574" cy="512064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Workflow Event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4462.4" y="2084832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15046" y="1828800"/>
            <a:ext cx="709574" cy="512064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Approval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42908.8" y="2084832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43492" y="1828800"/>
            <a:ext cx="709574" cy="512064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Approver Role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71355.200000001" y="2084832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71939" y="1828800"/>
            <a:ext cx="709574" cy="51206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Approve / Reject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99801.6" y="2084832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400385" y="1828800"/>
            <a:ext cx="709574" cy="512064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788920"/>
            <a:ext cx="40233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Supported Review Points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Manager approval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HR/admin/store approval where configured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Pending inbox scoped to role and site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Decision comments and audit history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Maintenance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Technician Work Log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08_technician_work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05765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" y="5630418"/>
            <a:ext cx="6492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Work log tab captures technician activity and completion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737360"/>
            <a:ext cx="3794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Captured Details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Start and end time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Issue found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Action taken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Work notes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Attachments/photos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Completion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3434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Closeout Guardrails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Checklist and work-log progress inform completion readiness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Proof uploads preserve field evidence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Spare Parts and Inventory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699260" cy="676656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Technician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11908.0" y="1911096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12492" y="1572768"/>
            <a:ext cx="1699260" cy="676656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Manager Approval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0040.0" y="1911096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30624" y="1572768"/>
            <a:ext cx="1699260" cy="676656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Store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8172.0" y="1911096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48756" y="1572768"/>
            <a:ext cx="1699260" cy="676656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Stock Check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66304.0" y="1911096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66888" y="1572768"/>
            <a:ext cx="1699260" cy="67665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Issue / Purchase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84436.0" y="1911096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85020" y="1572768"/>
            <a:ext cx="1699260" cy="676656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Consume / Return</a:t>
            </a:r>
          </a:p>
        </p:txBody>
      </p:sp>
      <p:pic>
        <p:nvPicPr>
          <p:cNvPr id="20" name="Picture 19" descr="07_spare_stor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6126480" cy="382905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731520" y="6544818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Approved spare requests show stock, purchase, issue, consume, and return state.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743200"/>
            <a:ext cx="3840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Workflow Coverage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Spare request from assignment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Manager approval / rejection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Store stock review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Purchase request when unavailable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Issue, consume, and return tracking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Frontend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Common Component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43434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Reusable Controls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CommonList for server-side tables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CommonDropdown for typeahead selections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CommonInput and text areas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CommonDatePicker and DateTimePicker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CommonFormCard and CommonFormActions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00600"/>
            <a:ext cx="4343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Adoption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Used across list, create, edit, checklist, and dialog workflows</a:t>
            </a:r>
          </a:p>
        </p:txBody>
      </p:sp>
      <p:pic>
        <p:nvPicPr>
          <p:cNvPr id="11" name="Picture 10" descr="06_equipment_edit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0200"/>
            <a:ext cx="5394960" cy="337185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0" y="5036058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Shared form card, input, date picker, and dropdown components.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Equipment View and Edit Permission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1699260" cy="65836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Equipment 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11908.0" y="192938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12492" y="1600200"/>
            <a:ext cx="1699260" cy="65836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Row Click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0040.0" y="192938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30624" y="1600200"/>
            <a:ext cx="1699260" cy="65836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Equipment 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8172.0" y="192938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48756" y="1600200"/>
            <a:ext cx="1699260" cy="658368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EQUIPMENT_UPDATE?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66304.0" y="192938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66888" y="1600200"/>
            <a:ext cx="1699260" cy="6583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Edit Page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84436.0" y="192938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85020" y="1600200"/>
            <a:ext cx="1699260" cy="6583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Direct Edit Blocked</a:t>
            </a:r>
          </a:p>
        </p:txBody>
      </p:sp>
      <p:pic>
        <p:nvPicPr>
          <p:cNvPr id="20" name="Picture 19" descr="04_equip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1760"/>
            <a:ext cx="4892040" cy="30575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85800" y="5773293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List row opens the read-only view page.</a:t>
            </a:r>
          </a:p>
        </p:txBody>
      </p:sp>
      <p:pic>
        <p:nvPicPr>
          <p:cNvPr id="22" name="Picture 21" descr="05_equipment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651760"/>
            <a:ext cx="4892040" cy="3057525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989320" y="5773293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Edit action appears only with update permission.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Role-Based API Access and Site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pic>
        <p:nvPicPr>
          <p:cNvPr id="9" name="Picture 8" descr="02_role_permissio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766560" cy="4229100"/>
          </a:xfrm>
          <a:prstGeom prst="rect">
            <a:avLst/>
          </a:prstGeom>
          <a:ln w="12700">
            <a:solidFill>
              <a:srgbClr val="DAE1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01868"/>
            <a:ext cx="6766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F6976"/>
                </a:solidFill>
                <a:latin typeface="Arial"/>
              </a:defRPr>
            </a:pPr>
            <a:r>
              <a:t>Role permissions are grouped by operation, HR, and admin areas.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600200"/>
            <a:ext cx="374903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Access Model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User -&gt; Role -&gt; Permission -&gt; API mapping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Backend repository query validates endpoint permission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Public API whitelist supports login, docs, health, and logo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703320"/>
            <a:ext cx="37490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Site-Aware Control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Employees are assigned to sites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Roles can be scoped per site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Service-layer checks filter accessible data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Permission-to-API Mapping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699260" cy="749808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CSV Mapping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11908.0" y="220370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12492" y="1828800"/>
            <a:ext cx="1699260" cy="74980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Startup Loader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0040.0" y="220370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30624" y="1828800"/>
            <a:ext cx="1699260" cy="74980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Database Table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8172.0" y="220370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48756" y="1828800"/>
            <a:ext cx="1699260" cy="74980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Repository Query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66304.0" y="220370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66888" y="1828800"/>
            <a:ext cx="1699260" cy="74980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Cache: api-permissions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84436.0" y="2203704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85020" y="1828800"/>
            <a:ext cx="1699260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Allow / Deny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CSV Contract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Path includes /api context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HTTP method is mapped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Permission code links endpoint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175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Runtime Check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Request URI normalized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Public patterns bypassed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Repository count determines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Governance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Unmapped APIs denied in production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Cache cleared after mapping changes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Standard error envelope returned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API Permission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1699260" cy="7772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User 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11908.0" y="2263139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12492" y="1874519"/>
            <a:ext cx="1699260" cy="7772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User Roles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0040.0" y="2263139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30624" y="1874519"/>
            <a:ext cx="1699260" cy="7772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Role Permissions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8172.0" y="2263139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48756" y="1874519"/>
            <a:ext cx="1699260" cy="777240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Permission API Mapping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66304.0" y="2263139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66888" y="1874519"/>
            <a:ext cx="1699260" cy="7772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API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84436.0" y="2263139.0"/>
            <a:ext cx="82296.0" cy="0.0"/>
          </a:xfrm>
          <a:prstGeom prst="line">
            <a:avLst/>
          </a:prstGeom>
          <a:ln w="1651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85020" y="1874519"/>
            <a:ext cx="16992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Allow / 403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63240"/>
            <a:ext cx="4892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Backend Enforcement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JwtFilter centralizes protected API checks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ApiPermissionService evaluates hasPermission(userId, requestUrl, method)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Unauthorized APIs return standardized 403 responses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063240"/>
            <a:ext cx="48920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Mapping Source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api-permission-mapping.csv defines permission-to-endpoint rules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CSV is loaded into permission_api_mapping on startup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Public API whitelist stays outside role checks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200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rial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286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rial"/>
              </a:defRPr>
            </a:pPr>
            <a:r>
              <a:t>ANDRITZ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A5"/>
                </a:solidFill>
                <a:latin typeface="Arial"/>
              </a:defRPr>
            </a:pPr>
            <a:r>
              <a:t>New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529"/>
                </a:solidFill>
                <a:latin typeface="Arial"/>
              </a:defRPr>
            </a:pPr>
            <a:r>
              <a:t>Recently Added CMMS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6976"/>
                </a:solidFill>
                <a:latin typeface="Arial"/>
              </a:defRPr>
            </a:pPr>
            <a:r>
              <a:t>CMMS Application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003DA5"/>
                </a:solidFill>
                <a:latin typeface="Arial"/>
              </a:defRPr>
            </a:pPr>
            <a:r>
              <a:t>Security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API permission mapping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Role-based API access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403 deny for unauthorized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Operations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Equipment view flow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Technician work logs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Approval inbox and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ED6C02"/>
                </a:solidFill>
                <a:latin typeface="Arial"/>
              </a:defRPr>
            </a:pPr>
            <a:r>
              <a:t>Inventory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Spare request lifecycle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Manager/store approvals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Issue, consume, and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2044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 wrap="square"/>
          <a:lstStyle/>
          <a:p>
            <a:pPr algn="ctr">
              <a:defRPr sz="1500" b="1">
                <a:solidFill>
                  <a:srgbClr val="C62828"/>
                </a:solidFill>
                <a:latin typeface="Arial"/>
              </a:defRPr>
            </a:pPr>
            <a:r>
              <a:t>Platform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Common UI components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Company branding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Notifications and dashboard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2000" b="1">
                <a:solidFill>
                  <a:srgbClr val="003DA5"/>
                </a:solidFill>
                <a:latin typeface="Arial"/>
              </a:defRPr>
            </a:pPr>
            <a:r>
              <a:t>API</a:t>
            </a:r>
          </a:p>
          <a:p>
            <a:pPr>
              <a:defRPr sz="950">
                <a:solidFill>
                  <a:srgbClr val="5F6976"/>
                </a:solidFill>
                <a:latin typeface="Arial"/>
              </a:defRPr>
            </a:pPr>
            <a:r>
              <a:t>Security and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53949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PM</a:t>
            </a:r>
          </a:p>
          <a:p>
            <a:pPr>
              <a:defRPr sz="950">
                <a:solidFill>
                  <a:srgbClr val="5F6976"/>
                </a:solidFill>
                <a:latin typeface="Arial"/>
              </a:defRPr>
            </a:pPr>
            <a:r>
              <a:t>Workflow 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53949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2000" b="1">
                <a:solidFill>
                  <a:srgbClr val="ED6C02"/>
                </a:solidFill>
                <a:latin typeface="Arial"/>
              </a:defRPr>
            </a:pPr>
            <a:r>
              <a:t>SPARES</a:t>
            </a:r>
          </a:p>
          <a:p>
            <a:pPr>
              <a:defRPr sz="950">
                <a:solidFill>
                  <a:srgbClr val="5F6976"/>
                </a:solidFill>
                <a:latin typeface="Arial"/>
              </a:defRPr>
            </a:pPr>
            <a:r>
              <a:t>Inventory lifecycle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539496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2000" b="1">
                <a:solidFill>
                  <a:srgbClr val="C62828"/>
                </a:solidFill>
                <a:latin typeface="Arial"/>
              </a:defRPr>
            </a:pPr>
            <a:r>
              <a:t>UI</a:t>
            </a:r>
          </a:p>
          <a:p>
            <a:pPr>
              <a:defRPr sz="950">
                <a:solidFill>
                  <a:srgbClr val="5F6976"/>
                </a:solidFill>
                <a:latin typeface="Arial"/>
              </a:defRPr>
            </a:pPr>
            <a:r>
              <a:t>User experience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0" y="1005840"/>
            <a:ext cx="512064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4-future-enhancemen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38544" y="2179701"/>
            <a:ext cx="5010912" cy="2818638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85800" y="132588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Potential Next Steps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158191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Mobile technician app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QR-based asset scan flow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Advanced predictive maintenance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Deeper purchase integration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Role-specific dashboards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Exportable analytics packs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54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777240"/>
            <a:ext cx="5394960" cy="5120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" name="Image 0" descr="C:\andritz_cmms\docs\screenshots\55-thank-you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72784" y="1851088"/>
            <a:ext cx="5285232" cy="2972943"/>
          </a:xfrm>
          <a:prstGeom prst="roundRect">
            <a:avLst>
              <a:gd name="adj" fmla="val 240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731520" y="2057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49808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C107"/>
                </a:solidFill>
              </a:rPr>
              <a:t>CMMS Application Demo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9808" y="3200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EF9"/>
                </a:solidFill>
              </a:rPr>
              <a:t>Generated from current running application UI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2646</Words>
  <Application>Microsoft Office PowerPoint</Application>
  <PresentationFormat>Widescreen</PresentationFormat>
  <Paragraphs>965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ANDRITZ CMMS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CMMS Application Demo</dc:title>
  <dc:subject>Computerized Maintenance Management System Demo</dc:subject>
  <dc:creator>CMMS Application</dc:creator>
  <cp:lastModifiedBy>KB Darshan</cp:lastModifiedBy>
  <cp:revision>3</cp:revision>
  <dcterms:created xsi:type="dcterms:W3CDTF">2026-06-23T08:45:12Z</dcterms:created>
  <dcterms:modified xsi:type="dcterms:W3CDTF">2026-06-23T10:29:33Z</dcterms:modified>
</cp:coreProperties>
</file>