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7" r:id="rId30"/>
    <p:sldId id="288" r:id="rId31"/>
    <p:sldId id="289" r:id="rId32"/>
    <p:sldId id="290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6659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594360"/>
            <a:ext cx="6126480" cy="530352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" name="Image 0" descr="C:\andritz_cmms\docs\screenshots\01-cmms-application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32704" y="1553908"/>
            <a:ext cx="6016752" cy="3384423"/>
          </a:xfrm>
          <a:prstGeom prst="roundRect">
            <a:avLst>
              <a:gd name="adj" fmla="val 2400"/>
            </a:avLst>
          </a:prstGeom>
        </p:spPr>
      </p:pic>
      <p:sp>
        <p:nvSpPr>
          <p:cNvPr id="4" name="Text 1"/>
          <p:cNvSpPr/>
          <p:nvPr/>
        </p:nvSpPr>
        <p:spPr>
          <a:xfrm>
            <a:off x="640080" y="1143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CMMS Application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58368" y="18288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C107"/>
                </a:solidFill>
              </a:rPr>
              <a:t>Computerized Maintenance Management System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EF9"/>
                </a:solidFill>
              </a:rPr>
              <a:t>Generated from current application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58368" y="5440680"/>
            <a:ext cx="1325880" cy="438912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49808" y="5568696"/>
            <a:ext cx="11430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2C7A"/>
                </a:solidFill>
              </a:rPr>
              <a:t>ANDRITZ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CMMS Application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Application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46520" y="960120"/>
            <a:ext cx="5257800" cy="52578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02-application-overview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01384" y="2141125"/>
            <a:ext cx="5148072" cy="2895790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685800" y="118872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04672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F2937"/>
                </a:solidFill>
              </a:rPr>
              <a:t>Asset Management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2514600" y="118872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633472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F2937"/>
                </a:solidFill>
              </a:rPr>
              <a:t>Maintenance Management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4343400" y="118872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462272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F2937"/>
                </a:solidFill>
              </a:rPr>
              <a:t>Inventory Management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685800" y="219456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04672" y="240487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F2937"/>
                </a:solidFill>
              </a:rPr>
              <a:t>Vendor Management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2514600" y="219456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2633472" y="240487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F2937"/>
                </a:solidFill>
              </a:rPr>
              <a:t>Employee Management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4343400" y="219456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462272" y="240487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F2937"/>
                </a:solidFill>
              </a:rPr>
              <a:t>Preventive Maintenance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685800" y="320040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804672" y="341071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F2937"/>
                </a:solidFill>
              </a:rPr>
              <a:t>Spare Parts Management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2514600" y="320040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2633472" y="341071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F2937"/>
                </a:solidFill>
              </a:rPr>
              <a:t>Purchase Requests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4343400" y="3200400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462272" y="341071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F2937"/>
                </a:solidFill>
              </a:rPr>
              <a:t>Reporting and Dashboard</a:t>
            </a:r>
            <a:endParaRPr lang="en-US" sz="860" dirty="0"/>
          </a:p>
        </p:txBody>
      </p:sp>
      <p:sp>
        <p:nvSpPr>
          <p:cNvPr id="26" name="Text 23"/>
          <p:cNvSpPr/>
          <p:nvPr/>
        </p:nvSpPr>
        <p:spPr>
          <a:xfrm>
            <a:off x="685800" y="4617720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Built to connect master data, maintenance execution, spare-parts control, and operational reporting in one flow.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CMMS Application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Table of Contents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15200" y="960120"/>
            <a:ext cx="4389120" cy="52578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03-table-of-contents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70064" y="2385441"/>
            <a:ext cx="4279392" cy="2407158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13232" y="1234440"/>
            <a:ext cx="292608" cy="292608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13232" y="1316736"/>
            <a:ext cx="292608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43000" y="1225296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Application overview and navigation flow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3232" y="1984248"/>
            <a:ext cx="292608" cy="292608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13232" y="2066544"/>
            <a:ext cx="292608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1143000" y="1975104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Master data: company, site, employee, roles, vendor, equipment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13232" y="2734056"/>
            <a:ext cx="292608" cy="292608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713232" y="2816352"/>
            <a:ext cx="292608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143000" y="2724912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Maintenance: request, assignment, downtime, preventive maintenance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13232" y="3483864"/>
            <a:ext cx="292608" cy="292608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13232" y="3566160"/>
            <a:ext cx="292608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1143000" y="3474720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Inventory: spare parts, stock movement, purchase requests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13232" y="4233672"/>
            <a:ext cx="292608" cy="292608"/>
          </a:xfrm>
          <a:prstGeom prst="ellipse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13232" y="4315968"/>
            <a:ext cx="292608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1143000" y="4224528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Notifications, dashboard, reports, and workflows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CMMS Application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Application Navigation 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360920" y="1005840"/>
            <a:ext cx="4343400" cy="512064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04-application-navigation-flow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15784" y="2375440"/>
            <a:ext cx="4233672" cy="2381440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594360" y="1234440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40080" y="1362456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Company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575560" y="136245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31008" y="1234440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776728" y="1362456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Site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712208" y="136245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67656" y="1234440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913376" y="1362456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Employee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94360" y="1947672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40080" y="2075688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Roles &amp; Permissions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2575560" y="2075688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31008" y="1947672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2776728" y="2075688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Vendor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712208" y="2075688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867656" y="1947672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913376" y="2075688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Equipment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94360" y="2660904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640080" y="2788920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Maintenance Request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2575560" y="2788920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731008" y="2660904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2776728" y="2788920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Assignment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712208" y="2788920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867656" y="2660904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4913376" y="2788920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Downtime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594360" y="3374136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640080" y="3502152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Preventive Maintenance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2575560" y="3502152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731008" y="3374136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2776728" y="3502152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Spare Parts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4712208" y="3502152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867656" y="3374136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4913376" y="3502152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Inventory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594360" y="4087368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640080" y="4215384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Purchase Requests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2575560" y="4215384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2731008" y="4087368"/>
            <a:ext cx="19354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2776728" y="4215384"/>
            <a:ext cx="18440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Reports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658368" y="5788152"/>
            <a:ext cx="5943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</a:rPr>
              <a:t>Routes discovered automatically from App.jsx: 54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Company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Company Creation Page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05-company-creation-page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Maintain the company master profile used throughout the application.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Company code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Company name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Email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Phone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Address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Create or update company profile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Upload and preview company logo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Use company data in navigation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Consistent company identity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Centralized master information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Site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Site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07-site-creation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Register operating locations and service centers.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 code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 name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Type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Address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Contact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Geo location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Create site master records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Capture address and contact data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Support active/inactive status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Clear site ownership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Site-based maintenance visibility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Site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Site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08-site-list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Browse and filter all configured sites.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 code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Name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Search site records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Edit site details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Manage operational status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Faster site administration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Cleaner location hierarchy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Employee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Employee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09-employee-creation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Create employee master records for operations and maintenance teams.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Employee code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Name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Mobile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Email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Designation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Department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Maintain employee identity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Track department/designation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Enable site and user-role assignment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Reliable workforce directory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Improved accountability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Employee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Employee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10-employee-list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Review employee records and status.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Employee code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Name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Department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Designation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Search employee data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Edit employee profile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Deactivate records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Central HR-maintenance alignment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Cleaner technician assignment data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Roles &amp; Permissions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Role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11-role-creation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Define application roles for access control.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Role code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Role name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Description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Permissions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Create reusable roles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Map permissions by module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Control page access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Stronger governance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Consistent role-based access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Roles &amp; Permissions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Permission Mapping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12-permission-mapping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Assign user roles and site-level access.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User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Role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Map users to roles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Limit access by site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Update role assignments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Preserved authentication flow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Least-privilege access control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Roles &amp; Permissions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Role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13-role-list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Review roles and permission counts.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Role code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Role name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Permission count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Search roles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View role permissions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Edit or inactivate roles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Transparent authorization model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Simplified admin review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Vendor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Vendor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14-vendor-creation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Register service vendors and contractors.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Vendor code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Vendor name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Contact person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Email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Phone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Category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Maintain vendor master data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Enable vendor-site assignment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Support active/inactive status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vendor control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Faster assignment planning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Vendor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Vendor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15-vendor-list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Browse approved vendors and service categories.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Vendor code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Name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Category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Contact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Search vendors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Edit vendor details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Deactivate vendors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Centralized contractor records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sourcing decisions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Equipment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Equipment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16-equipment-creation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Register assets and link them to sites.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 code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Name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Category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Manufacturer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Criticality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Create asset records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Track warranty and status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Link to site ownership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Centralized asset management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Improved maintenance planning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Equipment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Equipment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17-equipment-list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Browse plant assets and operating status.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 code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Name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Category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Criticality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Filter by site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Search assets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Edit equipment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 asset lookup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visibility into critical assets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Equipment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Equipment Details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18-equipment-details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View or edit detailed asset master data.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Installation date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Warranty expiry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Serial number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Complete asset profile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Update technical details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Maintain criticality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Accurate maintenance context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lifecycle tracking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Maintenance Request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Request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19-request-creation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Create corrective, breakdown, inspection, or calibration requests.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Title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Priority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Requested date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Log maintenance demand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Classify request type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Set target completion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Structured work intake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prioritization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19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Maintenance Request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Request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20-request-list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Track open and in-progress maintenance requests.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 number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Priority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Search requests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Filter status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Open request details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Improved backlog visibility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Faster triage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20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Maintenance Request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Request Details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21-request-details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Review maintenance request details in read-only context.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Description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Reported by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Priority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Target date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Read-only review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 visibility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 linkage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Clear request context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handoff to assignments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21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Assignment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Assignment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22-assignment-creation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Assign maintenance work to technicians and vendors.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Vendor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Assigned to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Planned dates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Cost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Create work assignment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Plan start/end dates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Estimate cost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Controlled execution planning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Vendor accountability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22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Assignment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Assignment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23-assignment-list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Monitor work assignments and execution status.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Vendor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Technician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Cost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Search assignments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Track progress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Open details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Improved workload visibility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field coordination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23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Assignment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Assignment Details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24-assignment-details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Review assignment details and spare usage workflow.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Actual dates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Spare requests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Remarks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Read-only assignment review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Spare usage table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Execution tracking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Traceable maintenance work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Cleaner closeout process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24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Downtime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Downtime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25-downtime-creation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Record equipment downtime events.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Start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End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Reason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Capture planned/unplanned downtime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Calculate duration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Link to request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Accurate downtime accounting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RCA-ready history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25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Downtime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Downtime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26-downtime-list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View downtime events across sites and equipment.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Duration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Reason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Planned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Search downtime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Filter records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Open details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Operational loss visibility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maintenance analysis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26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Downtime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Downtime Tracking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27-downtime-tracking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Inspect downtime event timing and maintenance context.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Start time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End time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Hours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Minutes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Remarks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Detailed tracking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 linkage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Duration calculation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Improved uptime reporting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reliability metrics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27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Preventive Maintenance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PM Schedule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28-pm-schedule-creation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Create recurring preventive maintenance schedules.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Frequency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Next due date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Priority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Vendor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Define recurrence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Assign vendor/site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Set SLA priority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Reduced breakdowns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Planned maintenance rhythm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28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Preventive Maintenance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PM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29-pm-list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Track preventive schedules and due work generation.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Frequency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Next due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Active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Completion %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Filter schedules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Generate work orders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Monitor PM compliance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Proactive maintenance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Higher asset availability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29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Spare Parts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Spare Part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32-spare-part-creation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Create spare part and site stock records.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Part code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Part name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Stock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Minimum stock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Unit cost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Maintain spare master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Set min/max levels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Attach vendor/category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Material availability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repair readiness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32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Spare Parts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Spare Part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33-spare-part-list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Manage site-wise spare stock and actions.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Part code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Available stock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Minimum stock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Low stock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Search inventory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Stock in/adjust/transfer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Create reorder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 stock visibility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Lower maintenance delays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33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Spare Parts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Stock 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34-stock-view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View current, reserved, and available stock by site.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Current stock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Reserved stock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Available stock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Storage location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Site-level stock view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Low-stock filter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QR label support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Inventory transparency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Reduced stockouts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34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Spare Parts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Stock Transaction History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35-stock-transaction-history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Review stock movement history for a selected spare part.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Transaction type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Quantity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Before/after stock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Reference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Open transaction history dialog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Audit material movements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Traceable inventory activity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Stronger stock control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35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Inventory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Inventory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37-inventory-list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List site stock records across all spare parts.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Part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Available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Minimum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Unit cost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Filter inventory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Identify low stock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Edit stock master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Cleaner stock administration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Faster spare lookup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37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Inventory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Stock Movement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38-stock-movement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Record stock in, adjustment, and transfer movement.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Movement type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Quantity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Unit cost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Remarks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Open stock movement dialog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Adjust site stock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Capture movement remarks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Controlled stock updates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Inventory auditability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38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Purchase Request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Purchase Request Creation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39-purchase-request-creation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Create reorder requests from low or planned stock requirements.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Stock item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Requested quantity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Estimated cost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Expected date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Open reorder dialog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Create purchase request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Link to stock item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Faster replenishment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Reduced stockout risk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39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Purchase Request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Purchase Request List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40-purchase-request-list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Track reorder and purchase requests.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Part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Requested quantity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View reorder records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Receive stock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Update purchase status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Purchasing visibility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Closed loop stock replenishment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40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Purchase Request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Purchase Approval 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41-purchase-approval-flow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Review spare requests before store processing or purchasing.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Spare request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Manager approval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Stock status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Decision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Manager review queue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Approve/reject request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Escalate to purchase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Controlled material release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approval governance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41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Notification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Notification Center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42-notification-center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View system notifications generated from workflows.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Type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Priority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Reference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Created at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In-app notification list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Read/archive actions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Reference links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Faster user awareness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exception handling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42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Notification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Notification Workflow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43-notification-workflow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Configure notification preferences and recipient roles.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Email enabled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PM reminders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Overdue alerts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Fallback roles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Adjust notification settings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Control reminder windows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Define recipients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Timely escalations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Configurable communication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43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Dashboard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Dashboard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44-dashboard-overview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Executive view of CMMS status and activity.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Open requests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Assignments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Downtime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Inventory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KPI cards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 filters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Recent activity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 operational awareness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Single landing view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44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Dashboard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KPI Cards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45-kpi-cards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Summarize important operational counts.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Requests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Downtime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Assignments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At-a-glance indicators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Color-coded cards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Site-aware metrics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Faster decision making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Management-ready visibility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45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Dashboard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Charts and Metrics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46-charts-and-metrics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Visualize trends and operational distribution.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Status mix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Downtime trends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Maintenance volume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Charts and metric panels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Operational summaries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trend review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Data-driven planning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46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Company Settings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Company Profile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47-company-profile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Maintain company profile data used by the application shell.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Company name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Company code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Contact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Address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Edit company details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Persist master profile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Consistent enterprise identity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Centralized configuration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47</a:t>
            </a:r>
            <a:endParaRPr lang="en-US" sz="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Company Settings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Logo Configuration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48-logo-configuration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Upload and preview company branding.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Logo file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Logo preview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Company status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Logo upload field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Preview configured branding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Branded demos and reports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Consistent presentation layer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48</a:t>
            </a:r>
            <a:endParaRPr lang="en-US" sz="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Workflow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Maintenance Workflow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995160" y="1005840"/>
            <a:ext cx="470916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49-maintenance-workflow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50024" y="2295430"/>
            <a:ext cx="4599432" cy="2587180"/>
          </a:xfrm>
          <a:prstGeom prst="roundRect">
            <a:avLst>
              <a:gd name="adj" fmla="val 240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658368" y="1097280"/>
            <a:ext cx="580644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Corrective work moves from request intake to assignment, technician execution, and closure.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04088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Maintenance Request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517648" y="213969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73096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718816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Assignment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532376" y="213969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87824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733544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Technician Work Log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58368" y="2724912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04088" y="2852928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58368" y="457200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Value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8368" y="4828032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Traceable process ownership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Standardized approval and execution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Clear operational handoffs</a:t>
            </a:r>
            <a:endParaRPr lang="en-US" sz="840" dirty="0"/>
          </a:p>
        </p:txBody>
      </p:sp>
      <p:sp>
        <p:nvSpPr>
          <p:cNvPr id="21" name="Shape 18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49</a:t>
            </a:r>
            <a:endParaRPr lang="en-US" sz="7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Workflow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Preventive Maintenance Workflow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995160" y="1005840"/>
            <a:ext cx="470916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50-preventive-maintenance-workflow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50024" y="2295430"/>
            <a:ext cx="4599432" cy="2587180"/>
          </a:xfrm>
          <a:prstGeom prst="roundRect">
            <a:avLst>
              <a:gd name="adj" fmla="val 240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658368" y="1097280"/>
            <a:ext cx="580644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Recurring schedules generate planned work orders that follow the standard assignment and completion path.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04088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PM Schedule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517648" y="213969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73096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718816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Auto Generation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532376" y="213969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87824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733544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Assignment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58368" y="2724912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04088" y="2852928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58368" y="457200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Value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58368" y="4828032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Traceable process ownership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Standardized approval and execution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Clear operational handoffs</a:t>
            </a:r>
            <a:endParaRPr lang="en-US" sz="840" dirty="0"/>
          </a:p>
        </p:txBody>
      </p:sp>
      <p:sp>
        <p:nvSpPr>
          <p:cNvPr id="21" name="Shape 18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50</a:t>
            </a:r>
            <a:endParaRPr lang="en-US" sz="7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Workflow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Spare Parts Workflow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995160" y="1005840"/>
            <a:ext cx="470916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51-spare-parts-workflow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50024" y="2295430"/>
            <a:ext cx="4599432" cy="2587180"/>
          </a:xfrm>
          <a:prstGeom prst="roundRect">
            <a:avLst>
              <a:gd name="adj" fmla="val 240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658368" y="1097280"/>
            <a:ext cx="580644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Spare requests are approved, checked for stock, issued when available, or converted to purchase requests.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04088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Technician Request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517648" y="213969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73096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718816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Manager Approval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532376" y="213969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87824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733544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Store Manager Review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58368" y="2724912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04088" y="2852928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Stock Available?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2517648" y="2852928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673096" y="2724912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2718816" y="2852928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Issue / Purchase Request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532376" y="2852928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687824" y="2724912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733544" y="2852928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Consume / Return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658368" y="457200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Value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58368" y="4828032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Traceable process ownership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Standardized approval and execution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Clear operational handoffs</a:t>
            </a:r>
            <a:endParaRPr lang="en-US" sz="840" dirty="0"/>
          </a:p>
        </p:txBody>
      </p:sp>
      <p:sp>
        <p:nvSpPr>
          <p:cNvPr id="27" name="Shape 24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51</a:t>
            </a:r>
            <a:endParaRPr lang="en-US" sz="7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Workflow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Inventory Workflow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995160" y="1005840"/>
            <a:ext cx="470916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52-inventory-workflow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50024" y="2295430"/>
            <a:ext cx="4599432" cy="2587180"/>
          </a:xfrm>
          <a:prstGeom prst="roundRect">
            <a:avLst>
              <a:gd name="adj" fmla="val 240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658368" y="1097280"/>
            <a:ext cx="580644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Inventory movements preserve traceability from reservation through issue, consumption, and return.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8368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04088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Stock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517648" y="213969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73096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718816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Reserve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532376" y="2139696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87824" y="2011680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733544" y="2139696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Issue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58368" y="2724912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704088" y="2852928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Consume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2517648" y="2852928"/>
            <a:ext cx="137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DA5"/>
                </a:solidFill>
              </a:rPr>
              <a:t>→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673096" y="2724912"/>
            <a:ext cx="18135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3D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2718816" y="2852928"/>
            <a:ext cx="172212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</a:rPr>
              <a:t>Return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58368" y="4572000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Value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58368" y="4828032"/>
            <a:ext cx="566928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Traceable process ownership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Standardized approval and execution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Clear operational handoffs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52</a:t>
            </a:r>
            <a:endParaRPr lang="en-US" sz="7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Reports Module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Reports &amp; Analytics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6629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53-reports-analytics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7784" y="1773650"/>
            <a:ext cx="6519672" cy="3667315"/>
          </a:xfrm>
          <a:prstGeom prst="roundRect">
            <a:avLst>
              <a:gd name="adj" fmla="val 240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360920" y="1024128"/>
            <a:ext cx="434340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589520" y="125272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F2937"/>
                </a:solidFill>
              </a:rPr>
              <a:t>Analyze equipment history and downtime performance.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589520" y="190195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Key Fields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589520" y="215798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Site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Date range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Downtime hours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7589520" y="306324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Features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89520" y="3319272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Downtime analysis report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Equipment history report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Filterable views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7589520" y="427939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Business Benefits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589520" y="4535424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Reliability insights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Better maintenance prioritization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53</a:t>
            </a:r>
            <a:endParaRPr lang="en-US" sz="7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3DA5"/>
                </a:solidFill>
              </a:rPr>
              <a:t>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</a:rPr>
              <a:t>Future Enhancements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424160" y="228600"/>
            <a:ext cx="1188720" cy="384048"/>
          </a:xfrm>
          <a:prstGeom prst="roundRect">
            <a:avLst>
              <a:gd name="adj" fmla="val 16000"/>
            </a:avLst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88168" y="320040"/>
            <a:ext cx="10607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2C7A"/>
                </a:solidFill>
              </a:rPr>
              <a:t>ANDRITZ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583680" y="1005840"/>
            <a:ext cx="5120640" cy="5166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C:\andritz_cmms\docs\screenshots\54-future-enhancements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38544" y="2179701"/>
            <a:ext cx="5010912" cy="2818638"/>
          </a:xfrm>
          <a:prstGeom prst="roundRect">
            <a:avLst>
              <a:gd name="adj" fmla="val 2400"/>
            </a:avLst>
          </a:prstGeom>
        </p:spPr>
      </p:pic>
      <p:sp>
        <p:nvSpPr>
          <p:cNvPr id="8" name="Text 5"/>
          <p:cNvSpPr/>
          <p:nvPr/>
        </p:nvSpPr>
        <p:spPr>
          <a:xfrm>
            <a:off x="685800" y="1325880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DA5"/>
                </a:solidFill>
              </a:rPr>
              <a:t>Potential Next Steps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85800" y="1581912"/>
            <a:ext cx="534924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Mobile technician app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QR-based asset scan flow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Advanced predictive maintenance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Deeper purchase integration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Role-specific dashboards</a:t>
            </a:r>
            <a:endParaRPr lang="en-US" sz="840" dirty="0"/>
          </a:p>
          <a:p>
            <a:pPr marL="0" indent="0">
              <a:buNone/>
            </a:pPr>
            <a:r>
              <a:rPr lang="en-US" sz="840" dirty="0">
                <a:solidFill>
                  <a:srgbClr val="1F2937"/>
                </a:solidFill>
              </a:rPr>
              <a:t>• Exportable analytics packs</a:t>
            </a:r>
            <a:endParaRPr lang="en-US" sz="840" dirty="0"/>
          </a:p>
        </p:txBody>
      </p:sp>
      <p:sp>
        <p:nvSpPr>
          <p:cNvPr id="10" name="Shape 7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54</a:t>
            </a:r>
            <a:endParaRPr lang="en-US" sz="7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777240"/>
            <a:ext cx="5394960" cy="512064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  <a:effectLst>
            <a:outerShdw blurRad="50800" dist="20000" dir="5400000" rotWithShape="0">
              <a:srgbClr val="101828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" name="Image 0" descr="C:\andritz_cmms\docs\screenshots\55-thank-you.png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72784" y="1851088"/>
            <a:ext cx="5285232" cy="2972943"/>
          </a:xfrm>
          <a:prstGeom prst="roundRect">
            <a:avLst>
              <a:gd name="adj" fmla="val 2400"/>
            </a:avLst>
          </a:prstGeom>
        </p:spPr>
      </p:pic>
      <p:sp>
        <p:nvSpPr>
          <p:cNvPr id="4" name="Text 1"/>
          <p:cNvSpPr/>
          <p:nvPr/>
        </p:nvSpPr>
        <p:spPr>
          <a:xfrm>
            <a:off x="731520" y="205740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Thank You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49808" y="27889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C107"/>
                </a:solidFill>
              </a:rPr>
              <a:t>CMMS Application Demo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49808" y="32004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EF9"/>
                </a:solidFill>
              </a:rPr>
              <a:t>Generated from current running application UI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11480" y="6446520"/>
            <a:ext cx="11384280" cy="0"/>
          </a:xfrm>
          <a:prstGeom prst="line">
            <a:avLst/>
          </a:prstGeom>
          <a:noFill/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02920" y="651967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</a:rPr>
              <a:t>CMMS Application Demo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292840" y="651967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</a:rPr>
              <a:t>55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2646</Words>
  <Application>Microsoft Office PowerPoint</Application>
  <PresentationFormat>Widescreen</PresentationFormat>
  <Paragraphs>965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ANDRITZ CMMS 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CMMS Application Demo</dc:title>
  <dc:subject>Computerized Maintenance Management System Demo</dc:subject>
  <dc:creator>CMMS Application</dc:creator>
  <cp:lastModifiedBy>KB Darshan</cp:lastModifiedBy>
  <cp:revision>3</cp:revision>
  <dcterms:created xsi:type="dcterms:W3CDTF">2026-06-23T08:45:12Z</dcterms:created>
  <dcterms:modified xsi:type="dcterms:W3CDTF">2026-06-23T10:29:33Z</dcterms:modified>
</cp:coreProperties>
</file>