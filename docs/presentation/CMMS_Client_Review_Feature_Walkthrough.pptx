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ANDRITZ CMMS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CMMS Application</a:t>
            </a:r>
            <a:br/>
            <a:r>
              <a:t>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6EBF5"/>
                </a:solidFill>
                <a:latin typeface="Aptos"/>
              </a:defRPr>
            </a:pPr>
            <a:r>
              <a:t>Client review presentation for evaluating the complete maintenance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Step-by-step journey from organization setup to operations, inventory, approvals, notifications, reports, and business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691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DA5"/>
                </a:solidFill>
                <a:latin typeface="Aptos"/>
              </a:defRPr>
            </a:pPr>
            <a:r>
              <a:t>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92040"/>
            <a:ext cx="1691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DA5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892040"/>
            <a:ext cx="1691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DA5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4892040"/>
            <a:ext cx="1691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DA5"/>
                </a:solidFill>
                <a:latin typeface="Aptos"/>
              </a:defRPr>
            </a:pPr>
            <a:r>
              <a:t>Approvals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892040"/>
            <a:ext cx="16916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3DA5"/>
                </a:solidFill>
                <a:latin typeface="Aptos"/>
              </a:defRPr>
            </a:pPr>
            <a:r>
              <a:t>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What the CMMS Application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0876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Foundation Setup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Company branding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Sites and locations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Employees, users, roles,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Maintenance Operations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Equipment and vendors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Requests and assignments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execution and downtime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0876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Inventory Control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Spare part stock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Manager/store approvals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Reorder and purchase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657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C62828"/>
                </a:solidFill>
                <a:latin typeface="Aptos"/>
              </a:defRPr>
            </a:pPr>
            <a:r>
              <a:t>Governance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Authentication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Role/site/API access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Approval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5760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1259B1"/>
                </a:solidFill>
                <a:latin typeface="Aptos"/>
              </a:defRPr>
            </a:pPr>
            <a:r>
              <a:t>Monitoring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Dashboard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Notifications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Reports and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42432"/>
            <a:ext cx="1653540" cy="50292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t>Setup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1656.0" y="5993892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50236" y="5742432"/>
            <a:ext cx="1653540" cy="502920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t>Operate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17492.0" y="5993892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6072" y="5742432"/>
            <a:ext cx="1653540" cy="502920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t>Approve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53328.0" y="5993892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1908" y="5742432"/>
            <a:ext cx="165354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t>Track Stock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89164.0" y="5993892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57744" y="5742432"/>
            <a:ext cx="1653540" cy="502920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t>Notify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25000.0" y="5993892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93580" y="5742432"/>
            <a:ext cx="1653540" cy="50292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t>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End-to-End Application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91640"/>
            <a:ext cx="1311021" cy="5486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Company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91665.0" y="196596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60245" y="1691640"/>
            <a:ext cx="1311021" cy="548640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Sites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4982.0" y="196596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3562" y="1691640"/>
            <a:ext cx="1311021" cy="548640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Employees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78299.0" y="196596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46879" y="1691640"/>
            <a:ext cx="1311021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Roles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71616.0" y="196596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40196" y="1691640"/>
            <a:ext cx="1311021" cy="548640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Equipment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64933.0" y="196596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33513" y="1691640"/>
            <a:ext cx="1311021" cy="5486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Requests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58250.0" y="196596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26830" y="1691640"/>
            <a:ext cx="1311021" cy="5486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Assignments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251567.0" y="196596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20147" y="1691640"/>
            <a:ext cx="1311021" cy="548640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Work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880360"/>
            <a:ext cx="1311021" cy="5486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Approvals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91665.0" y="315468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960245" y="2880360"/>
            <a:ext cx="1311021" cy="548640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Spare Parts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84982.0" y="315468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53562" y="2880360"/>
            <a:ext cx="1311021" cy="548640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Inventory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78299.0" y="315468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46879" y="2880360"/>
            <a:ext cx="1311021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Purchase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71616.0" y="315468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40196" y="2880360"/>
            <a:ext cx="1311021" cy="548640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PM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64933.0" y="315468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533513" y="2880360"/>
            <a:ext cx="1311021" cy="5486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Notifications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58250.0" y="315468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926830" y="2880360"/>
            <a:ext cx="1311021" cy="548640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251567.0" y="3154680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320147" y="2880360"/>
            <a:ext cx="1311021" cy="548640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20624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Client View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The system starts with master data setup and then supports daily plant maintenance from request creation through closure.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20624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Management View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Every workflow produces status, stock, downtime, approval, and history data for operational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107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Part 1 - Foundation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6EBF5"/>
                </a:solidFill>
                <a:latin typeface="Aptos"/>
              </a:defRPr>
            </a:pPr>
            <a:r>
              <a:t>How the customer configures the organization before maintenance work begins.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502152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483863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Create company identity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32504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4014215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Register operating sites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62855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4544567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Maintain employee master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093208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507492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Control users, roles, permissions, and site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Company Master and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0" name="Picture 9" descr="09_notification_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Maintains the company profile used throughout the application.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Stores company name, code, contact details, address, status, and logo.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 opens Company Master.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 enters company details and uploads the logo.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The top navbar uses this brand identity for all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Makes the application feel owned by the client.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Keeps organization details centralized.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professional demos, daily use, and reporting identity.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Open Admin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Company Master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Enter Details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Upload Logo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Save Branding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Site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Registers plants, warehouses, service centers, or client operating locations.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Captures site code, name, type, address, contact, city/state, and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 creates all physical locations.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Users filter equipment, requests, employees, inventory, and reports by site.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Inactive sites can be retained historically without being used for new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Gives management clear site-wise control.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Enables location-specific access and reporting.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multi-plant rollout from one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1699260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Company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26208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4788" y="5733288"/>
            <a:ext cx="1699260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Site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776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76344" y="5733288"/>
            <a:ext cx="1699260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Employees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57900" y="5733288"/>
            <a:ext cx="1699260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087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39456" y="5733288"/>
            <a:ext cx="1699260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Inventory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52432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21012" y="5733288"/>
            <a:ext cx="1699260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Employee Master and Site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Maintains employee records for technicians, managers, store teams, admins, and HR users.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Tracks employee code, name, department, designation, contact details, status, and assigned site 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HR/Admin adds employee profiles.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Employees are linked to sites.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Technicians become available for maintenance assignment and work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Creates an accountable workforce directory.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technician planning.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site-wise responsibility and audit traceability.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 Employee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Assign Site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Assign User/Role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Use in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Users, Roles, and 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0" name="Picture 9" descr="02_role_permissio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Controls what each user can see and do in the application.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Roles contain permissions such as EQUIPMENT_VIEW, REQUEST_CREATE, APPROVAL_APPROVE, and REPORT_VIEW.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 creates roles for Super Admin, Maintenance Manager, Store, Technician, HR, and Viewer profiles.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 maps users to roles and optionally to sites.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Navigation and actions appear based on permissions.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Enforces least-privilege access.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mistakes by hiding unauthorized actions.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different responsibilities across departments and sites.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Role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Permission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Allowed Pages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Allowed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API Permission Mapping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10" name="Picture 9" descr="03_permission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Protects backend APIs using permission-to-endpoint mapping.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The CSV mapping is loaded into the database and checked by JwtFilter through ApiPermissionService.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When a user calls an API, the backend validates hasPermission(userId, requestUrl, method).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Public APIs such as login and health checks stay whitelisted.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Unauthorized or unmapped protected APIs return 403.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Protects data beyond the frontend screen.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governance for client IT review.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Prevents direct URL/API access by unauthorized users.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Login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JWT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API Request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Permission Mapping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Allow or 403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107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Part 2 - Asset and Maintenance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6EBF5"/>
                </a:solidFill>
                <a:latin typeface="Aptos"/>
              </a:defRPr>
            </a:pPr>
            <a:r>
              <a:t>Daily maintenance workflow from assets to technician execution.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502152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483863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Register equipment and vendors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32504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4014215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Create maintenance requests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62855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4544567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Approve work where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093208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507492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Assign technicians/vendors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623560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560527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Capture work logs and downtime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Dashboard Landing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0" name="Picture 9" descr="01_dashboard_nav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Provides an executive overview after login.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Shows counts and indicators for equipment, vendors, requests, downtime, and low stock.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Managers open the dashboard to see current maintenance health.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Site filter helps review one plant or all locations.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Cards highlight urgent operational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Gives quick decision support.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dependency on manual status calls.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Helps leadership identify backlog, downtime, and inventory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Equipment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10" name="Picture 9" descr="04_equipm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Registers all maintainable assets in the plant.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Stores asset code, name, site, category, location, manufacturer, model, serial number, warranty, status, and criticality.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 or maintenance planner creates equipment records.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Users search and filter equipment by site.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Each maintenance request, downtime event, PM schedule, and report links back to equipment.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Creates a single source of truth for assets.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maintenance context and warranty tracking.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asset lifecycle visibility.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 Asset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View Asset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Link Request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Track Downtime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Report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Equipment View and Edit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0" name="Picture 9" descr="05_equipmen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Equipment rows open a read-only View page for inspection.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Edit action is shown only to users with EQUIPMENT_UPDATE permission.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Operators can view equipment details without editing.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Authorized users can open Edit and update master data.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Direct edit routes are protected by route permission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Protects asset master data quality.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Allows wide visibility with controlled updates.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audit-friendly asset governance.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32130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List Row Click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825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116836" y="5733288"/>
            <a:ext cx="132130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View Page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5186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520440" y="5733288"/>
            <a:ext cx="132130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Permission Check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24044" y="5733288"/>
            <a:ext cx="132130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Edit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Vendor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Maintains external service vendors and contractors.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Stores vendor code, name, category, contact person, email, phone, site links, and active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 registers approved vendors.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Maintenance planner selects vendors during assignment or PM planning.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Inactive vendors can be blocked from new assignments.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contractor control.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Speeds assignment planning.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Keeps vendor contact and service category information in one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Register Vendor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Assign to Site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Use in Work 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Track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Maintenance Request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Captures corrective, breakdown, inspection, calibration, or general maintenance demand.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Links request to site, equipment, priority, requested date, target date, and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 raises a request when equipment needs attention.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 reviews priority and status.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Request becomes the starting point for assignment, spare usage, downtime, and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Standardizes work intake.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prioritization and backlog visibility.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Prevents informal maintenance tasks from being lost.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055571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Issue Found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2519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1099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 Request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0386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8966" y="5733288"/>
            <a:ext cx="2055571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Prioritize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8253.600000001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26833" y="5733288"/>
            <a:ext cx="2055571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Approve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6120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64700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Maintenance Request List and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Tracks open, in-progress, completed, and rejected maintenance requests.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Provides searchable, filterable request history with equipment and site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Maintenance teams review current backlog.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Users open details before assignment.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Managers monitor request age and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operational transparency.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Creates a shared view of maintenance demand.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faster triage and handoff.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Search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Filter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Open Details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Assign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Approval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10" name="Picture 9" descr="11_approval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Routes configured work items to the right approver.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manager, HR/admin/store approval where applicable.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Approvers open Pending Approvals.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They filter by module, action, site, and dates.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They approve/reject with comments, producing a decision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Adds governance before cost, stock, or workflow changes.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Prevents unauthorized work and material movement.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Creates traceability for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Workflow Event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Approval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Approver Role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Decision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Maintenance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Converts an approved request into executable work.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Assigns technician, vendor, planned dates, estimated cost, actual cost, and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Planner selects request, site, vendor, and technician.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Assignment becomes the execution workspace.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Technicians update logs, checklist, and spare usage from the assignment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Turns request backlog into accountable work.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technician scheduling.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Connects labor, material, cost, and completion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1699260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26208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4788" y="5733288"/>
            <a:ext cx="1699260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Assignment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776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76344" y="5733288"/>
            <a:ext cx="1699260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Technician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57900" y="5733288"/>
            <a:ext cx="1699260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Vendor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087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39456" y="5733288"/>
            <a:ext cx="1699260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Execution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52432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21012" y="5733288"/>
            <a:ext cx="1699260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Technician Work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10" name="Picture 9" descr="08_technician_work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Captures field execution details for each assignment.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Tracks start/end time, technician, issue found, action taken, notes, completion status, and attachments/photos.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records work as it happens.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Supervisor reviews work notes and evidence.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Completion readiness can depend on work-log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accountability.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Creates maintenance history for future troubleshooting.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audit and service quality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Start 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Record Issue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Action Taken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Attach Proof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Complete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Maintenance Checklist and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Adds structured task steps to assignments and preventive maintenance work.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required steps, response values, remarks, proof-required flags, and uploaded proof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Planner or PM schedule defines checklist items.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marks each step complete and uploads proof where required.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System prevents weak closeout when required checks are missing.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work quality.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safety and compliance processes.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missed inspection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Checklist Step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Technician Response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Proof Upload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Completion Readiness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Downtime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Records equipment downtime events and duration.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Links downtime to equipment, site, request, start/end time, planned/unplanned reason, and remarks.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Maintenance or operations team records downtime whenever equipment is unavailable.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Managers review downtime list and analysis.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Downtime data contributes to reporting and reliability discussion.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Quantifies production impact.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root-cause analysis.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Helps prioritize unreliable assets.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Equipment Stops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Record Downtime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Link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Analyze Hours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107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Part 3 - Preventive Maintenance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6EBF5"/>
                </a:solidFill>
                <a:latin typeface="Aptos"/>
              </a:defRPr>
            </a:pPr>
            <a:r>
              <a:t>Planned maintenance and material control.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502152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483863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Create PM schedules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32504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4014215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Generate work orders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62855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4544567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Manage spare part stock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093208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507492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Approve and issue spares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623560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560527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Reorder unavailable material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Preventive Maintenance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10" name="Picture 9" descr="10_preventive_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Creates recurring maintenance plans for assets.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Stores equipment, site, title, frequency, priority, next due date, vendor, checklist, and active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Planner creates PM schedule for critical equipment.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System tracks next due date and completion percentage.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 can generate work orders from due PM schedules.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Moves maintenance from reactive to planned.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breakdown risk.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maintenance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PM Schedule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Next Due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Generate Work Order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Assignment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Completion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PM Calendar, Due Reminder, and Status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Shows upcoming PM work and reminder status.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Notification settings control PM reminder window and recipient roles.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Maintenance manager reviews PM list/calendar.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System sends due reminders for upcoming schedules.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Generated work orders follow the standard assignment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Prevents missed scheduled work.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Gives visibility before due dates.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asset availability and planning discipline.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055571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Upcoming PM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2519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1099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Reminder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0386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8966" y="5733288"/>
            <a:ext cx="2055571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Work 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8253.600000001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26833" y="5733288"/>
            <a:ext cx="2055571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Execute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6120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64700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Update Status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Spare Parts Master and Site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Maintains spare part records and stock by site.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Tracks part code, part name, site, current stock, reserved stock, available stock, minimum stock, unit cost, storage location, QR label, and low-stock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 team creates spare records.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Users filter stock by site and low-stock status.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Stock can be adjusted, transferred, or replenished.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material availability.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repair delays.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site-wise inventory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055571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Part Master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2519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1099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Site Stock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0386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8966" y="5733288"/>
            <a:ext cx="2055571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Available Stock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8253.600000001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26833" y="5733288"/>
            <a:ext cx="2055571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Low Stock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6120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64700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Reorder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Spare Request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26</a:t>
            </a:r>
          </a:p>
        </p:txBody>
      </p:sp>
      <p:pic>
        <p:nvPicPr>
          <p:cNvPr id="10" name="Picture 9" descr="07_spare_stor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Controls material requests raised from maintenance assignments.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technician request, manager approval, store review, stock available/not available, issue, consume, and return.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requests required spare.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 approves or rejects quantity.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 checks stock and either issues material or triggers purchase/reorder.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Prevents uncontrolled stock usage.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Links material to maintenance work.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Creates traceability from request to consumption.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Manager Approval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Store Review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Issue/Purchase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Consume/Return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Inventory Stock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Records stock-in, adjustment, transfer, reserve, issue, consume, and return movements.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Maintains transaction history with before/after quantities and reference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 team updates stock when material arrives or moves.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Technicians consume or return issued material.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Managers review stock transaction history for audit.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inventory accuracy.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stock mismatch.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audit and cost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1699260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Stock 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26208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4788" y="5733288"/>
            <a:ext cx="1699260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Adjust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776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76344" y="5733288"/>
            <a:ext cx="1699260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Transfer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57900" y="5733288"/>
            <a:ext cx="1699260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Reserve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087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39456" y="5733288"/>
            <a:ext cx="1699260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Issue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52432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21012" y="5733288"/>
            <a:ext cx="1699260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Consume/Return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Purchase and Reorder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Creates purchase requests when stock is low or unavailable.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Tracks requested quantity, estimated cost, expected date, purchase status, and received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 creates reorder from low-stock item or unavailable spare request.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Purchase request is tracked until stock is received.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Received stock closes the replenishment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stockout risk.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Connects maintenance demand to procurement.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Gives management purchasing visibility.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055571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Low Stock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2519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1099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 Reorder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0386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8966" y="5733288"/>
            <a:ext cx="2055571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Purchase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8253.600000001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26833" y="5733288"/>
            <a:ext cx="2055571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Receive Stock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6120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64700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Update Inventory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107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Part 4 - Communication, Reports, and Platform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6EBF5"/>
                </a:solidFill>
                <a:latin typeface="Aptos"/>
              </a:defRPr>
            </a:pPr>
            <a:r>
              <a:t>How users stay informed and how management reviews performance.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502152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483863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Notifications and settings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32504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4014215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Reports and dashboard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62855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4544567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Common UI and usability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093208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507492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API response contract and observability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623560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5605272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Notification Center and Bell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30</a:t>
            </a:r>
          </a:p>
        </p:txBody>
      </p:sp>
      <p:pic>
        <p:nvPicPr>
          <p:cNvPr id="10" name="Picture 9" descr="09_notification_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Delivers in-app notifications for important workflow events.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Includes notification bell, unread count, popover preview, notification center, read/archive actions, and reference 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Users see alerts from the navbar.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They open notification details and navigate directly to related work.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Admins configure notification settings and recipient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Brings important work to users immediately.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missed approvals and PM due dates.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operational responsiveness.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33288"/>
            <a:ext cx="1040587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Event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7535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36115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Recipient Role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90418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58998" y="5733288"/>
            <a:ext cx="1040587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Bell Alert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301.5999999996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81881" y="5733288"/>
            <a:ext cx="1040587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Open Work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36184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04764" y="5733288"/>
            <a:ext cx="1040587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Mark Read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Notification Types and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PM due reminders, overdue maintenance request alerts, approval pending alerts, and optional email configuration.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Runtime settings control reminder days, scan time, enabled channels, and fallback roles.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Admin configures notification preferences.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System scans daily for due PM and overdue work.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Recipients receive in-app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Configurable communication for client operating model.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escalation discipline.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Keeps critical work visible without manual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Settings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Daily Scan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Generate Alert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In-App Notification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Reports and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Provides management reports for equipment history and downtime analysis.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Reports are filterable and linked to equipment, site, date, request, assignment, and downtime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 opens Equipment History to review all work done on an asset.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 opens Downtime Analysis to see frequency and duration of downtime.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Reports support maintenance review meetings.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Turns workflow data into decisions.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Helps identify recurring failures.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maintenance planning and reliability improvement.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Workflow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Equipment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Downtime Analysis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Management Review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Equipment History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Combines requests, assignments, downtime, and status history by equipment.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Shows reference, type, detail, status, site, and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Maintenance manager selects an equipment filter.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System returns the maintenance record history.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Team uses history for troubleshooting, warranty discussions, and replacement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Makes asset history easy to inspect.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faster root-cause analysis.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asset lifecycle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Select Equipment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Review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Identify Patterns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Plan Action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Downtime Analysis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Summarizes downtime events, unplanned events, total minutes, total hours, and total days.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Aggregates downtime by equipment and site.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 filters by equipment or reviews all assets.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High downtime assets are identified for deeper investigation.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Results help prioritize PM and replacement plans.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Quantifies production loss.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reliability KPIs.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investment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590038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Downtime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986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5566" y="5733288"/>
            <a:ext cx="2590038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 Metrics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57900" y="5733288"/>
            <a:ext cx="2590038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Asset Ranking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1654.0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0234" y="5733288"/>
            <a:ext cx="2590038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Action Plan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Common UI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35</a:t>
            </a:r>
          </a:p>
        </p:txBody>
      </p:sp>
      <p:pic>
        <p:nvPicPr>
          <p:cNvPr id="10" name="Picture 9" descr="06_equipment_edit_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72768"/>
            <a:ext cx="4983480" cy="311467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37960" y="58155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ptos"/>
              </a:defRPr>
            </a:pPr>
            <a:r>
              <a:t>Application screen from the current CMMS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72768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Standardizes lists, dropdowns, inputs, date pickers, form cards, and form actions across modules.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Shared components are used in list, create, edit, and dialog 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98064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Users see the same interaction pattern across equipment, PM, approvals, reports, and inventory.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Typeahead dropdowns help find sites, equipment, roles, and users faster.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24528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training effort.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consistency and data-entry quality.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Makes future modules faster to add.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Authentication, Site Access, and Protected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JWT authentication protects the application.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Frontend routes and backend APIs both check permissions.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Allowed sites and roles are stored after login and used across navigation and filters.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User logs in.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Navigation shows only authorized modules.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Service-level checks keep site-specific data protected.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Protects client data.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multi-site access control.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Reduces accidental access to irrelevant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055571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Login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2519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1099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JWT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0386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8966" y="5733288"/>
            <a:ext cx="2055571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Roles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8253.600000001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26833" y="5733288"/>
            <a:ext cx="2055571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Allowed Sites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6120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64700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Protected Routes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Standard API Responses and Error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Normal JSON APIs return a consistent ApiResponse envelope.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Errors include code, message, details, and correlationId through the global exception handler.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Frontend reads the standard error format.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Validation errors show field-level details.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 teams can trace issues using correlation IDs.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maintainability and support.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Makes integration predictable.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Helps client IT teams review reliability and troubleshooting readiness.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055571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2519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1099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ApiResponse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0386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8966" y="5733288"/>
            <a:ext cx="2055571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ApiErrorResponse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8253.600000001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26833" y="5733288"/>
            <a:ext cx="2055571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Correlation 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6120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64700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Support Trace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STEP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Observability and Operational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this feature does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Every request receives a correlation ID.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Structured logs include method, path, status, duration, userId where available, and error code.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Metrics support scheduled jobs and critical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98064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How the client uses it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Support/admin teams review logs during incidents.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Notification and approval jobs can be monitored.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Sensitive values such as passwords and tokens are not logged.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698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Why it is useful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Improves production support.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Supports audit and troubleshooting.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Gives the buyer confidence in operating the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733288"/>
            <a:ext cx="2055571" cy="43891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2519.2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1099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Correlation ID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0386.4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8966" y="5733288"/>
            <a:ext cx="2055571" cy="43891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Structured Log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8253.600000001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26833" y="5733288"/>
            <a:ext cx="2055571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Metrics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6120.8" y="595274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64700" y="5733288"/>
            <a:ext cx="2055571" cy="43891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Health Checks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107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Part 5 - End-to-End Client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6EBF5"/>
                </a:solidFill>
                <a:latin typeface="Aptos"/>
              </a:defRPr>
            </a:pPr>
            <a:r>
              <a:t>This section connects all modules into real operating scenarios.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502152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483863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Corrective maintenance flow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32504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4014215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Preventive maintenance flow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562855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4544567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Spare parts and purchase flow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093208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3DA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5074920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Manager review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Corrective Maintenance - Full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1722120" cy="62179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Issue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1636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90216" y="1600200"/>
            <a:ext cx="1722120" cy="62179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26052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4632" y="1600200"/>
            <a:ext cx="1722120" cy="62179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Approval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0468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99048" y="1600200"/>
            <a:ext cx="1722120" cy="62179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Assignment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4884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03464" y="1600200"/>
            <a:ext cx="1722120" cy="62179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Work Log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39300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07880" y="1600200"/>
            <a:ext cx="1722120" cy="62179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761488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How the user works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Operator identifies equipment issue.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Maintenance request is created and prioritized.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Approval is taken if configured.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Planner assigns technician/vendor.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logs work, checklist, spares, and completion.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Business outcome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Clear ownership from issue to closure.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Reduced untracked maintenance work.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Complete history for every equipment problem.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Better cost and material visibility.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Preventive Maintenance - Full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1722120" cy="62179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Schedule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1636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90216" y="1600200"/>
            <a:ext cx="1722120" cy="62179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Due 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26052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4632" y="1600200"/>
            <a:ext cx="1722120" cy="62179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Reminder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0468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99048" y="1600200"/>
            <a:ext cx="1722120" cy="62179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Work Order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4884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03464" y="1600200"/>
            <a:ext cx="1722120" cy="62179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Checklist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39300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07880" y="1600200"/>
            <a:ext cx="1722120" cy="62179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761488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How the user works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Planner creates recurring PM schedule.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System tracks next due date.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Reminder notifies responsible roles.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Due PM generates work order.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executes checklist and closes assignment.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Business outcome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Fewer surprise breakdowns.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Better maintenance compliance.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More predictable technician workload.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Improved asset availability.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Spare Parts - Full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1722120" cy="62179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1636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90216" y="1600200"/>
            <a:ext cx="1722120" cy="62179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Approve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26052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4632" y="1600200"/>
            <a:ext cx="1722120" cy="62179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Check Stock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0468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99048" y="1600200"/>
            <a:ext cx="1722120" cy="62179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Issue/Purchase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4884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03464" y="1600200"/>
            <a:ext cx="1722120" cy="62179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Consume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39300.0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07880" y="1600200"/>
            <a:ext cx="1722120" cy="62179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Return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761488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How the user works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requests part from assignment.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 approves requested quantity.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Store checks available stock.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Material is issued or purchase request is created.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consumes or returns issued quantity.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Business outcome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Material usage is controlled.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Stock is accurate by site.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Purchasing is linked to maintenance need.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Audit trail exists for every spare movement.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Manager Review - Full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2083003" cy="62179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2519.2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51099" y="1600200"/>
            <a:ext cx="2083003" cy="62179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Approvals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47818.4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16398" y="1600200"/>
            <a:ext cx="2083003" cy="621792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Notifications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13117.600000001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81697" y="1600200"/>
            <a:ext cx="2083003" cy="62179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Inventory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78416.8" y="1911096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46996" y="1600200"/>
            <a:ext cx="2083003" cy="621792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90" b="1">
                <a:solidFill>
                  <a:srgbClr val="FFFFFF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761488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How the user works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 opens dashboard for operational health.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Reviews pending approvals and overdue notifications.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Checks low-stock indicators.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Uses reports for equipment history and downtime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61488"/>
            <a:ext cx="5074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Business outcome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Faster daily review.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Better decision-making from live workflow data.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Improved accountability across teams.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Clearer maintenance performance visibility.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Typical User Roles and 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572768"/>
            <a:ext cx="5417820" cy="438912"/>
          </a:xfrm>
          <a:prstGeom prst="rect">
            <a:avLst/>
          </a:prstGeom>
          <a:solidFill>
            <a:srgbClr val="003D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3620" y="1572768"/>
            <a:ext cx="5417820" cy="438912"/>
          </a:xfrm>
          <a:prstGeom prst="rect">
            <a:avLst/>
          </a:prstGeom>
          <a:solidFill>
            <a:srgbClr val="003D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Primary Responsibilities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11680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Super 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3620" y="2011680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Full system setup, roles, security, company configuration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50592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Maintenance Manager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3620" y="2450592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Requests, assignments, PM, approvals,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89504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Technician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3620" y="2889504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Assigned work, checklist, work logs, spare requests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328416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Store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3620" y="3328416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Spare stock, issue, consume/return, purchase escalation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67328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HR/Admin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3767328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Sites, employees, user role assignment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206240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Viewer/Management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3620" y="4206240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Dashboard, reports, read-only operational review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Feature Map for Client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572768"/>
            <a:ext cx="5417820" cy="438912"/>
          </a:xfrm>
          <a:prstGeom prst="rect">
            <a:avLst/>
          </a:prstGeom>
          <a:solidFill>
            <a:srgbClr val="003D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3620" y="1572768"/>
            <a:ext cx="5417820" cy="438912"/>
          </a:xfrm>
          <a:prstGeom prst="rect">
            <a:avLst/>
          </a:prstGeom>
          <a:solidFill>
            <a:srgbClr val="003D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Client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11680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Company/Site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3620" y="2011680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Branding, plant structure, location-wise rollout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50592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Employees/Roles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3620" y="2450592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User identity, site access, role-based permissions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889504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Equipment/Vendor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3620" y="2889504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Asset and contractor master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328416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Requests/Assignments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3620" y="3328416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Corrective maintenance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67328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Work Logs/Checklist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3767328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Technician activity, proof, completion readiness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206240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PM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3620" y="4206240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Recurring planned maintenance and due reminders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645152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Spares/Inventory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3620" y="4645152"/>
            <a:ext cx="5417820" cy="438912"/>
          </a:xfrm>
          <a:prstGeom prst="rect">
            <a:avLst/>
          </a:prstGeom>
          <a:solidFill>
            <a:srgbClr val="FAFBFD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Material request, stock, issue, purchase, consume/return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084064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Notifications/Reports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3620" y="5084064"/>
            <a:ext cx="54178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40">
                <a:solidFill>
                  <a:srgbClr val="374151"/>
                </a:solidFill>
                <a:latin typeface="Aptos"/>
              </a:defRPr>
            </a:pPr>
            <a:r>
              <a:t>Alerts, dashboard, equipment history, downtime analysis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Why This Application Is Useful to the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Operational Control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Every request, assignment, spare, and approval has an owner and status.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Teams work from one shared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Lower Downtime Risk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PM schedules and reminders reduce missed maintenance.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Downtime reports identify recurring problem assets.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544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Inventory Discipline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Spare usage is approved and traceable.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Low-stock and purchase flows reduce repair delays.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8404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C62828"/>
                </a:solidFill>
                <a:latin typeface="Aptos"/>
              </a:defRPr>
            </a:pPr>
            <a:r>
              <a:t>Governance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Role, site, and API permissions protect data and actions.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Approval history supports audit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1259B1"/>
                </a:solidFill>
                <a:latin typeface="Aptos"/>
              </a:defRPr>
            </a:pPr>
            <a:r>
              <a:t>Management Visibility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Dashboard, alerts, and reports convert daily activity into decisions.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Managers can review status without manual follow-up.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CLIENT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Suggested Implementation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1744980" cy="56692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1. Configure Company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8776.0" y="192938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7356" y="1645920"/>
            <a:ext cx="1744980" cy="566928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2. Add Sites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26052.0" y="192938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4632" y="1645920"/>
            <a:ext cx="1744980" cy="566928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3. Add Employees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3328.0" y="192938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1908" y="1645920"/>
            <a:ext cx="1744980" cy="56692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4. Assign Roles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80604.0" y="192938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49184" y="1645920"/>
            <a:ext cx="1744980" cy="566928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5. Load Equipment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07880.0" y="192938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76460" y="1645920"/>
            <a:ext cx="1744980" cy="56692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6. Load Spares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43200"/>
            <a:ext cx="1744980" cy="56692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7. Configure PM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98776.0" y="302666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467356" y="2743200"/>
            <a:ext cx="1744980" cy="566928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8. Start Requests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26052.0" y="302666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294632" y="2743200"/>
            <a:ext cx="1744980" cy="566928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9. Use Approvals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53328.0" y="302666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21908" y="2743200"/>
            <a:ext cx="1744980" cy="56692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10. Track Inventory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80604.0" y="302666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49184" y="2743200"/>
            <a:ext cx="1744980" cy="566928"/>
          </a:xfrm>
          <a:prstGeom prst="roundRect">
            <a:avLst/>
          </a:prstGeom>
          <a:solidFill>
            <a:srgbClr val="125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11. Review Reports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07880.0" y="3026664.0"/>
            <a:ext cx="54864.0" cy="0.0"/>
          </a:xfrm>
          <a:prstGeom prst="line">
            <a:avLst/>
          </a:prstGeom>
          <a:ln w="1333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76460" y="2743200"/>
            <a:ext cx="1744980" cy="566928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40" b="1">
                <a:solidFill>
                  <a:srgbClr val="FFFFFF"/>
                </a:solidFill>
                <a:latin typeface="Aptos"/>
              </a:defRPr>
            </a:pPr>
            <a:r>
              <a:t>12. Optimize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977639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Recommended First Phase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Company, sites, employees, roles, equipment, vendors, and request workflow.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977639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Recommended Second Phase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Preventive maintenance, inventory controls, notifications, and reporting review cadence.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46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CLIENT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Aptos"/>
              </a:defRPr>
            </a:pPr>
            <a:r>
              <a:t>Complete CMMS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CMMS Feature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003DA5"/>
                </a:solidFill>
                <a:latin typeface="Aptos"/>
              </a:defRPr>
            </a:pPr>
            <a:r>
              <a:t>What the buyer receives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A complete maintenance management workflow covering setup, assets, requests, approvals, execution, PM, spares, inventory, notifications, dashboard, and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2E7D32"/>
                </a:solidFill>
                <a:latin typeface="Aptos"/>
              </a:defRPr>
            </a:pPr>
            <a:r>
              <a:t>For Operations Teams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Structured work intake and assignment.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Technician logs, checklist proof, spare usage, and downtime capture.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78892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ED6C02"/>
                </a:solidFill>
                <a:latin typeface="Aptos"/>
              </a:defRPr>
            </a:pPr>
            <a:r>
              <a:t>For Management Teams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Dashboard, approvals, alerts, reports, site-wise access, and audit-ready workflow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18872" wrap="square"/>
          <a:lstStyle/>
          <a:p>
            <a:pPr algn="ctr">
              <a:defRPr sz="1450" b="1">
                <a:solidFill>
                  <a:srgbClr val="C62828"/>
                </a:solidFill>
                <a:latin typeface="Aptos"/>
              </a:defRPr>
            </a:pPr>
            <a:r>
              <a:t>Final client message</a:t>
            </a:r>
          </a:p>
          <a:p>
            <a:pPr>
              <a:spcBef>
                <a:spcPts val="400"/>
              </a:spcBef>
              <a:defRPr sz="1210">
                <a:solidFill>
                  <a:srgbClr val="374151"/>
                </a:solidFill>
                <a:latin typeface="Aptos"/>
              </a:defRPr>
            </a:pPr>
            <a:r>
              <a:t>- The application gives the client one governed platform to plan, execute, track, and improve maintenance operations across multiple sites.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876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6EBF5"/>
                </a:solidFill>
                <a:latin typeface="Aptos"/>
              </a:defRPr>
            </a:pPr>
            <a:r>
              <a:t>CMMS Application - Client Review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Ready for review with client stakeholders, operations teams, maintenance managers, store teams, and IT/security reviewers.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